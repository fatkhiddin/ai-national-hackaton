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ileron Bold" charset="1" panose="00000800000000000000"/>
      <p:regular r:id="rId16"/>
    </p:embeddedFont>
    <p:embeddedFont>
      <p:font typeface="Aileron Light" charset="1" panose="00000400000000000000"/>
      <p:regular r:id="rId17"/>
    </p:embeddedFont>
    <p:embeddedFont>
      <p:font typeface="Poppins" charset="1" panose="00000500000000000000"/>
      <p:regular r:id="rId18"/>
    </p:embeddedFont>
    <p:embeddedFont>
      <p:font typeface="Aileron Ultra-Bold" charset="1" panose="00000A00000000000000"/>
      <p:regular r:id="rId19"/>
    </p:embeddedFont>
    <p:embeddedFont>
      <p:font typeface="Canva Sans Bold" charset="1" panose="020B0803030501040103"/>
      <p:regular r:id="rId20"/>
    </p:embeddedFont>
    <p:embeddedFont>
      <p:font typeface="Aileron" charset="1" panose="00000500000000000000"/>
      <p:regular r:id="rId21"/>
    </p:embeddedFont>
    <p:embeddedFont>
      <p:font typeface="Open Sans Bold" charset="1" panose="020B0806030504020204"/>
      <p:regular r:id="rId22"/>
    </p:embeddedFont>
    <p:embeddedFont>
      <p:font typeface="Open Sans" charset="1" panose="020B0606030504020204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6.png" Type="http://schemas.openxmlformats.org/officeDocument/2006/relationships/image"/><Relationship Id="rId2" Target="../media/image21.jpeg" Type="http://schemas.openxmlformats.org/officeDocument/2006/relationships/image"/><Relationship Id="rId3" Target="../media/image4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2" Target="../media/image34.jpeg" Type="http://schemas.openxmlformats.org/officeDocument/2006/relationships/image"/><Relationship Id="rId3" Target="../media/image35.jpeg" Type="http://schemas.openxmlformats.org/officeDocument/2006/relationships/image"/><Relationship Id="rId4" Target="../media/image36.jpeg" Type="http://schemas.openxmlformats.org/officeDocument/2006/relationships/image"/><Relationship Id="rId5" Target="../media/image6.png" Type="http://schemas.openxmlformats.org/officeDocument/2006/relationships/image"/><Relationship Id="rId6" Target="../media/image37.jpeg" Type="http://schemas.openxmlformats.org/officeDocument/2006/relationships/image"/><Relationship Id="rId7" Target="../media/image38.jpe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6.png" Type="http://schemas.openxmlformats.org/officeDocument/2006/relationships/image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922042">
            <a:off x="980119" y="-3449052"/>
            <a:ext cx="5423860" cy="8217969"/>
          </a:xfrm>
          <a:custGeom>
            <a:avLst/>
            <a:gdLst/>
            <a:ahLst/>
            <a:cxnLst/>
            <a:rect r="r" b="b" t="t" l="l"/>
            <a:pathLst>
              <a:path h="8217969" w="5423860">
                <a:moveTo>
                  <a:pt x="0" y="0"/>
                </a:moveTo>
                <a:lnTo>
                  <a:pt x="5423859" y="0"/>
                </a:lnTo>
                <a:lnTo>
                  <a:pt x="5423859" y="8217969"/>
                </a:lnTo>
                <a:lnTo>
                  <a:pt x="0" y="82179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120089">
            <a:off x="5455252" y="1491956"/>
            <a:ext cx="10753075" cy="10753075"/>
          </a:xfrm>
          <a:custGeom>
            <a:avLst/>
            <a:gdLst/>
            <a:ahLst/>
            <a:cxnLst/>
            <a:rect r="r" b="b" t="t" l="l"/>
            <a:pathLst>
              <a:path h="10753075" w="10753075">
                <a:moveTo>
                  <a:pt x="0" y="0"/>
                </a:moveTo>
                <a:lnTo>
                  <a:pt x="10753075" y="0"/>
                </a:lnTo>
                <a:lnTo>
                  <a:pt x="10753075" y="10753075"/>
                </a:lnTo>
                <a:lnTo>
                  <a:pt x="0" y="10753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120089">
            <a:off x="11278948" y="4441224"/>
            <a:ext cx="7416075" cy="7416075"/>
          </a:xfrm>
          <a:custGeom>
            <a:avLst/>
            <a:gdLst/>
            <a:ahLst/>
            <a:cxnLst/>
            <a:rect r="r" b="b" t="t" l="l"/>
            <a:pathLst>
              <a:path h="7416075" w="7416075">
                <a:moveTo>
                  <a:pt x="0" y="0"/>
                </a:moveTo>
                <a:lnTo>
                  <a:pt x="7416075" y="0"/>
                </a:lnTo>
                <a:lnTo>
                  <a:pt x="7416075" y="7416075"/>
                </a:lnTo>
                <a:lnTo>
                  <a:pt x="0" y="7416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45541" y="801351"/>
            <a:ext cx="4637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3000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ASTRO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20372" y="6268381"/>
            <a:ext cx="9444576" cy="99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1"/>
              </a:lnSpc>
            </a:pPr>
            <a:r>
              <a:rPr lang="en-US" b="true" sz="3801" spc="-190">
                <a:solidFill>
                  <a:srgbClr val="171717"/>
                </a:solidFill>
                <a:latin typeface="Aileron Bold"/>
                <a:ea typeface="Aileron Bold"/>
                <a:cs typeface="Aileron Bold"/>
                <a:sym typeface="Aileron Bold"/>
              </a:rPr>
              <a:t>Sun’iy intellekt bilan boshqariladigan muvaffaqiyat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8779" y="517573"/>
            <a:ext cx="834256" cy="8342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242245" y="298631"/>
            <a:ext cx="8800829" cy="5768371"/>
          </a:xfrm>
          <a:custGeom>
            <a:avLst/>
            <a:gdLst/>
            <a:ahLst/>
            <a:cxnLst/>
            <a:rect r="r" b="b" t="t" l="l"/>
            <a:pathLst>
              <a:path h="5768371" w="8800829">
                <a:moveTo>
                  <a:pt x="0" y="0"/>
                </a:moveTo>
                <a:lnTo>
                  <a:pt x="8800829" y="0"/>
                </a:lnTo>
                <a:lnTo>
                  <a:pt x="8800829" y="5768371"/>
                </a:lnTo>
                <a:lnTo>
                  <a:pt x="0" y="5768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1289" t="-47724" r="-38890" b="-45638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120089">
            <a:off x="3639613" y="-4346179"/>
            <a:ext cx="13529234" cy="13529234"/>
          </a:xfrm>
          <a:custGeom>
            <a:avLst/>
            <a:gdLst/>
            <a:ahLst/>
            <a:cxnLst/>
            <a:rect r="r" b="b" t="t" l="l"/>
            <a:pathLst>
              <a:path h="13529234" w="13529234">
                <a:moveTo>
                  <a:pt x="0" y="0"/>
                </a:moveTo>
                <a:lnTo>
                  <a:pt x="13529234" y="0"/>
                </a:lnTo>
                <a:lnTo>
                  <a:pt x="13529234" y="13529233"/>
                </a:lnTo>
                <a:lnTo>
                  <a:pt x="0" y="13529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120089">
            <a:off x="-2523751" y="1820042"/>
            <a:ext cx="8098110" cy="8098110"/>
          </a:xfrm>
          <a:custGeom>
            <a:avLst/>
            <a:gdLst/>
            <a:ahLst/>
            <a:cxnLst/>
            <a:rect r="r" b="b" t="t" l="l"/>
            <a:pathLst>
              <a:path h="8098110" w="8098110">
                <a:moveTo>
                  <a:pt x="0" y="0"/>
                </a:moveTo>
                <a:lnTo>
                  <a:pt x="8098110" y="0"/>
                </a:lnTo>
                <a:lnTo>
                  <a:pt x="8098110" y="8098110"/>
                </a:lnTo>
                <a:lnTo>
                  <a:pt x="0" y="809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6146271">
            <a:off x="-2029957" y="2285008"/>
            <a:ext cx="8137868" cy="813786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3">
                <a:alpha val="21961"/>
              </a:srgbClr>
            </a:solidFill>
            <a:ln w="19050" cap="sq">
              <a:solidFill>
                <a:srgbClr val="163B42">
                  <a:alpha val="21961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2000" spc="-14">
                  <a:solidFill>
                    <a:srgbClr val="000000">
                      <a:alpha val="21961"/>
                    </a:srgbClr>
                  </a:solidFill>
                  <a:latin typeface="Aileron Light"/>
                  <a:ea typeface="Aileron Light"/>
                  <a:cs typeface="Aileron Light"/>
                  <a:sym typeface="Aileron Light"/>
                </a:rPr>
                <a:t>..................................................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744180" y="2117551"/>
            <a:ext cx="9958052" cy="6011043"/>
          </a:xfrm>
          <a:custGeom>
            <a:avLst/>
            <a:gdLst/>
            <a:ahLst/>
            <a:cxnLst/>
            <a:rect r="r" b="b" t="t" l="l"/>
            <a:pathLst>
              <a:path h="6011043" w="9958052">
                <a:moveTo>
                  <a:pt x="0" y="0"/>
                </a:moveTo>
                <a:lnTo>
                  <a:pt x="9958052" y="0"/>
                </a:lnTo>
                <a:lnTo>
                  <a:pt x="9958052" y="6011043"/>
                </a:lnTo>
                <a:lnTo>
                  <a:pt x="0" y="6011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09412" y="4655291"/>
            <a:ext cx="8265119" cy="4833017"/>
            <a:chOff x="0" y="0"/>
            <a:chExt cx="2176821" cy="12728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821" cy="1272893"/>
            </a:xfrm>
            <a:custGeom>
              <a:avLst/>
              <a:gdLst/>
              <a:ahLst/>
              <a:cxnLst/>
              <a:rect r="r" b="b" t="t" l="l"/>
              <a:pathLst>
                <a:path h="1272893" w="2176821">
                  <a:moveTo>
                    <a:pt x="32784" y="0"/>
                  </a:moveTo>
                  <a:lnTo>
                    <a:pt x="2144037" y="0"/>
                  </a:lnTo>
                  <a:cubicBezTo>
                    <a:pt x="2152732" y="0"/>
                    <a:pt x="2161071" y="3454"/>
                    <a:pt x="2167219" y="9602"/>
                  </a:cubicBezTo>
                  <a:cubicBezTo>
                    <a:pt x="2173367" y="15751"/>
                    <a:pt x="2176821" y="24089"/>
                    <a:pt x="2176821" y="32784"/>
                  </a:cubicBezTo>
                  <a:lnTo>
                    <a:pt x="2176821" y="1240109"/>
                  </a:lnTo>
                  <a:cubicBezTo>
                    <a:pt x="2176821" y="1248804"/>
                    <a:pt x="2173367" y="1257143"/>
                    <a:pt x="2167219" y="1263291"/>
                  </a:cubicBezTo>
                  <a:cubicBezTo>
                    <a:pt x="2161071" y="1269439"/>
                    <a:pt x="2152732" y="1272893"/>
                    <a:pt x="2144037" y="1272893"/>
                  </a:cubicBezTo>
                  <a:lnTo>
                    <a:pt x="32784" y="1272893"/>
                  </a:lnTo>
                  <a:cubicBezTo>
                    <a:pt x="24089" y="1272893"/>
                    <a:pt x="15751" y="1269439"/>
                    <a:pt x="9602" y="1263291"/>
                  </a:cubicBezTo>
                  <a:cubicBezTo>
                    <a:pt x="3454" y="1257143"/>
                    <a:pt x="0" y="1248804"/>
                    <a:pt x="0" y="1240109"/>
                  </a:cubicBezTo>
                  <a:lnTo>
                    <a:pt x="0" y="32784"/>
                  </a:lnTo>
                  <a:cubicBezTo>
                    <a:pt x="0" y="24089"/>
                    <a:pt x="3454" y="15751"/>
                    <a:pt x="9602" y="9602"/>
                  </a:cubicBezTo>
                  <a:cubicBezTo>
                    <a:pt x="15751" y="3454"/>
                    <a:pt x="24089" y="0"/>
                    <a:pt x="327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176821" cy="1187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9412" y="2117551"/>
            <a:ext cx="8380019" cy="2314182"/>
            <a:chOff x="0" y="0"/>
            <a:chExt cx="2207083" cy="6094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7083" cy="609496"/>
            </a:xfrm>
            <a:custGeom>
              <a:avLst/>
              <a:gdLst/>
              <a:ahLst/>
              <a:cxnLst/>
              <a:rect r="r" b="b" t="t" l="l"/>
              <a:pathLst>
                <a:path h="609496" w="2207083">
                  <a:moveTo>
                    <a:pt x="39726" y="0"/>
                  </a:moveTo>
                  <a:lnTo>
                    <a:pt x="2167358" y="0"/>
                  </a:lnTo>
                  <a:cubicBezTo>
                    <a:pt x="2177893" y="0"/>
                    <a:pt x="2187998" y="4185"/>
                    <a:pt x="2195448" y="11635"/>
                  </a:cubicBezTo>
                  <a:cubicBezTo>
                    <a:pt x="2202898" y="19085"/>
                    <a:pt x="2207083" y="29190"/>
                    <a:pt x="2207083" y="39726"/>
                  </a:cubicBezTo>
                  <a:lnTo>
                    <a:pt x="2207083" y="569771"/>
                  </a:lnTo>
                  <a:cubicBezTo>
                    <a:pt x="2207083" y="591711"/>
                    <a:pt x="2189298" y="609496"/>
                    <a:pt x="2167358" y="609496"/>
                  </a:cubicBezTo>
                  <a:lnTo>
                    <a:pt x="39726" y="609496"/>
                  </a:lnTo>
                  <a:cubicBezTo>
                    <a:pt x="17786" y="609496"/>
                    <a:pt x="0" y="591711"/>
                    <a:pt x="0" y="569771"/>
                  </a:cubicBezTo>
                  <a:lnTo>
                    <a:pt x="0" y="39726"/>
                  </a:lnTo>
                  <a:cubicBezTo>
                    <a:pt x="0" y="17786"/>
                    <a:pt x="17786" y="0"/>
                    <a:pt x="397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2207083" cy="523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053137" y="8192977"/>
            <a:ext cx="2412326" cy="241232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AFF">
                <a:alpha val="21961"/>
              </a:srgbClr>
            </a:solidFill>
            <a:ln w="19050" cap="sq">
              <a:solidFill>
                <a:srgbClr val="163B42">
                  <a:alpha val="21961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0647" y="342900"/>
            <a:ext cx="834256" cy="83425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132465" y="4799647"/>
            <a:ext cx="5083222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-1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Asosiy vazifalarimiz: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749792" y="2440642"/>
            <a:ext cx="7946827" cy="4891657"/>
          </a:xfrm>
          <a:custGeom>
            <a:avLst/>
            <a:gdLst/>
            <a:ahLst/>
            <a:cxnLst/>
            <a:rect r="r" b="b" t="t" l="l"/>
            <a:pathLst>
              <a:path h="4891657" w="7946827">
                <a:moveTo>
                  <a:pt x="0" y="0"/>
                </a:moveTo>
                <a:lnTo>
                  <a:pt x="7946828" y="0"/>
                </a:lnTo>
                <a:lnTo>
                  <a:pt x="7946828" y="4891657"/>
                </a:lnTo>
                <a:lnTo>
                  <a:pt x="0" y="4891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17930" y="2266038"/>
            <a:ext cx="7677884" cy="1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sz="2894" spc="-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Biz Roof AI jamoasimiz. Maqsadimiz — CRM tizimlarini sun’iy intellekt yordamida yanada samarali va aqlli qilish.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3620" y="5342835"/>
            <a:ext cx="8400912" cy="3883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</a:p>
          <a:p>
            <a:pPr algn="l" marL="673639" indent="-336819" lvl="1">
              <a:lnSpc>
                <a:spcPts val="4368"/>
              </a:lnSpc>
              <a:buFont typeface="Arial"/>
              <a:buChar char="•"/>
            </a:pPr>
            <a:r>
              <a:rPr lang="en-US" sz="3120" spc="-1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20" spc="-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orqali</a:t>
            </a:r>
            <a:r>
              <a:rPr lang="en-US" sz="3120" spc="-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mijozlar bilan telefon suhbatlarini tahlil qilish </a:t>
            </a:r>
          </a:p>
          <a:p>
            <a:pPr algn="l" marL="673639" indent="-336819" lvl="1">
              <a:lnSpc>
                <a:spcPts val="4368"/>
              </a:lnSpc>
              <a:buFont typeface="Arial"/>
              <a:buChar char="•"/>
            </a:pPr>
            <a:r>
              <a:rPr lang="en-US" sz="3120" spc="-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Avtomatik xizmat ko‘rsatish va mijoz oqimini oshirish</a:t>
            </a:r>
          </a:p>
          <a:p>
            <a:pPr algn="l" marL="673639" indent="-336819" lvl="1">
              <a:lnSpc>
                <a:spcPts val="4368"/>
              </a:lnSpc>
              <a:buFont typeface="Arial"/>
              <a:buChar char="•"/>
            </a:pPr>
            <a:r>
              <a:rPr lang="en-US" sz="3120" spc="-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Real vaqt rejimida uy narxlarini tahlil qilish va monitoring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5488" y="626678"/>
            <a:ext cx="4637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3000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ASTRO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387" y="611572"/>
            <a:ext cx="834256" cy="8342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04387" y="4571392"/>
            <a:ext cx="10085874" cy="5215722"/>
          </a:xfrm>
          <a:custGeom>
            <a:avLst/>
            <a:gdLst/>
            <a:ahLst/>
            <a:cxnLst/>
            <a:rect r="r" b="b" t="t" l="l"/>
            <a:pathLst>
              <a:path h="5215722" w="10085874">
                <a:moveTo>
                  <a:pt x="0" y="0"/>
                </a:moveTo>
                <a:lnTo>
                  <a:pt x="10085874" y="0"/>
                </a:lnTo>
                <a:lnTo>
                  <a:pt x="10085874" y="5215722"/>
                </a:lnTo>
                <a:lnTo>
                  <a:pt x="0" y="5215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02" r="0" b="-100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10999" y="1737628"/>
            <a:ext cx="6864234" cy="8229600"/>
          </a:xfrm>
          <a:custGeom>
            <a:avLst/>
            <a:gdLst/>
            <a:ahLst/>
            <a:cxnLst/>
            <a:rect r="r" b="b" t="t" l="l"/>
            <a:pathLst>
              <a:path h="8229600" w="6864234">
                <a:moveTo>
                  <a:pt x="0" y="0"/>
                </a:moveTo>
                <a:lnTo>
                  <a:pt x="6864234" y="0"/>
                </a:lnTo>
                <a:lnTo>
                  <a:pt x="68642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16" t="0" r="-728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79229" y="895350"/>
            <a:ext cx="4637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3000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ASTRO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8643" y="1560128"/>
            <a:ext cx="9185063" cy="147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4"/>
              </a:lnSpc>
            </a:pPr>
            <a:r>
              <a:rPr lang="en-US" b="true" sz="5752" spc="-54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QULAY INTERFEYS + CHUQUR TAHLIL + TO’LIQ NAZORAT =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82887" y="3281892"/>
            <a:ext cx="4786471" cy="122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8"/>
              </a:lnSpc>
            </a:pPr>
            <a:r>
              <a:rPr lang="en-US" b="true" sz="9372" spc="-88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ROOF AI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99235">
            <a:off x="-1692155" y="-11252988"/>
            <a:ext cx="11490266" cy="11490266"/>
          </a:xfrm>
          <a:custGeom>
            <a:avLst/>
            <a:gdLst/>
            <a:ahLst/>
            <a:cxnLst/>
            <a:rect r="r" b="b" t="t" l="l"/>
            <a:pathLst>
              <a:path h="11490266" w="11490266">
                <a:moveTo>
                  <a:pt x="0" y="0"/>
                </a:moveTo>
                <a:lnTo>
                  <a:pt x="11490267" y="0"/>
                </a:lnTo>
                <a:lnTo>
                  <a:pt x="11490267" y="11490267"/>
                </a:lnTo>
                <a:lnTo>
                  <a:pt x="0" y="11490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120089">
            <a:off x="580165" y="1747933"/>
            <a:ext cx="8098110" cy="8098110"/>
          </a:xfrm>
          <a:custGeom>
            <a:avLst/>
            <a:gdLst/>
            <a:ahLst/>
            <a:cxnLst/>
            <a:rect r="r" b="b" t="t" l="l"/>
            <a:pathLst>
              <a:path h="8098110" w="8098110">
                <a:moveTo>
                  <a:pt x="0" y="0"/>
                </a:moveTo>
                <a:lnTo>
                  <a:pt x="8098110" y="0"/>
                </a:lnTo>
                <a:lnTo>
                  <a:pt x="8098110" y="8098109"/>
                </a:lnTo>
                <a:lnTo>
                  <a:pt x="0" y="8098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6480827">
            <a:off x="13146746" y="-2945684"/>
            <a:ext cx="5423860" cy="8217969"/>
          </a:xfrm>
          <a:custGeom>
            <a:avLst/>
            <a:gdLst/>
            <a:ahLst/>
            <a:cxnLst/>
            <a:rect r="r" b="b" t="t" l="l"/>
            <a:pathLst>
              <a:path h="8217969" w="5423860">
                <a:moveTo>
                  <a:pt x="0" y="8217969"/>
                </a:moveTo>
                <a:lnTo>
                  <a:pt x="5423860" y="8217969"/>
                </a:lnTo>
                <a:lnTo>
                  <a:pt x="5423860" y="0"/>
                </a:lnTo>
                <a:lnTo>
                  <a:pt x="0" y="0"/>
                </a:lnTo>
                <a:lnTo>
                  <a:pt x="0" y="8217969"/>
                </a:lnTo>
                <a:close/>
              </a:path>
            </a:pathLst>
          </a:custGeom>
          <a:blipFill>
            <a:blip r:embed="rId4">
              <a:alphaModFix amt="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11572" y="517573"/>
            <a:ext cx="834256" cy="8342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9451" y="2264857"/>
            <a:ext cx="6544016" cy="7521705"/>
            <a:chOff x="0" y="0"/>
            <a:chExt cx="1723527" cy="19810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3527" cy="1981025"/>
            </a:xfrm>
            <a:custGeom>
              <a:avLst/>
              <a:gdLst/>
              <a:ahLst/>
              <a:cxnLst/>
              <a:rect r="r" b="b" t="t" l="l"/>
              <a:pathLst>
                <a:path h="1981025" w="1723527">
                  <a:moveTo>
                    <a:pt x="41407" y="0"/>
                  </a:moveTo>
                  <a:lnTo>
                    <a:pt x="1682120" y="0"/>
                  </a:lnTo>
                  <a:cubicBezTo>
                    <a:pt x="1693102" y="0"/>
                    <a:pt x="1703634" y="4362"/>
                    <a:pt x="1711399" y="12128"/>
                  </a:cubicBezTo>
                  <a:cubicBezTo>
                    <a:pt x="1719164" y="19893"/>
                    <a:pt x="1723527" y="30425"/>
                    <a:pt x="1723527" y="41407"/>
                  </a:cubicBezTo>
                  <a:lnTo>
                    <a:pt x="1723527" y="1939618"/>
                  </a:lnTo>
                  <a:cubicBezTo>
                    <a:pt x="1723527" y="1950600"/>
                    <a:pt x="1719164" y="1961132"/>
                    <a:pt x="1711399" y="1968897"/>
                  </a:cubicBezTo>
                  <a:cubicBezTo>
                    <a:pt x="1703634" y="1976663"/>
                    <a:pt x="1693102" y="1981025"/>
                    <a:pt x="1682120" y="1981025"/>
                  </a:cubicBezTo>
                  <a:lnTo>
                    <a:pt x="41407" y="1981025"/>
                  </a:lnTo>
                  <a:cubicBezTo>
                    <a:pt x="30425" y="1981025"/>
                    <a:pt x="19893" y="1976663"/>
                    <a:pt x="12128" y="1968897"/>
                  </a:cubicBezTo>
                  <a:cubicBezTo>
                    <a:pt x="4362" y="1961132"/>
                    <a:pt x="0" y="1950600"/>
                    <a:pt x="0" y="1939618"/>
                  </a:cubicBezTo>
                  <a:lnTo>
                    <a:pt x="0" y="41407"/>
                  </a:lnTo>
                  <a:cubicBezTo>
                    <a:pt x="0" y="30425"/>
                    <a:pt x="4362" y="19893"/>
                    <a:pt x="12128" y="12128"/>
                  </a:cubicBezTo>
                  <a:cubicBezTo>
                    <a:pt x="19893" y="4362"/>
                    <a:pt x="30425" y="0"/>
                    <a:pt x="414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723527" cy="18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53267" y="2264857"/>
            <a:ext cx="10008929" cy="2321192"/>
            <a:chOff x="0" y="0"/>
            <a:chExt cx="2636097" cy="6113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36097" cy="611343"/>
            </a:xfrm>
            <a:custGeom>
              <a:avLst/>
              <a:gdLst/>
              <a:ahLst/>
              <a:cxnLst/>
              <a:rect r="r" b="b" t="t" l="l"/>
              <a:pathLst>
                <a:path h="611343" w="2636097">
                  <a:moveTo>
                    <a:pt x="27073" y="0"/>
                  </a:moveTo>
                  <a:lnTo>
                    <a:pt x="2609024" y="0"/>
                  </a:lnTo>
                  <a:cubicBezTo>
                    <a:pt x="2623976" y="0"/>
                    <a:pt x="2636097" y="12121"/>
                    <a:pt x="2636097" y="27073"/>
                  </a:cubicBezTo>
                  <a:lnTo>
                    <a:pt x="2636097" y="584270"/>
                  </a:lnTo>
                  <a:cubicBezTo>
                    <a:pt x="2636097" y="599222"/>
                    <a:pt x="2623976" y="611343"/>
                    <a:pt x="2609024" y="611343"/>
                  </a:cubicBezTo>
                  <a:lnTo>
                    <a:pt x="27073" y="611343"/>
                  </a:lnTo>
                  <a:cubicBezTo>
                    <a:pt x="12121" y="611343"/>
                    <a:pt x="0" y="599222"/>
                    <a:pt x="0" y="584270"/>
                  </a:cubicBezTo>
                  <a:lnTo>
                    <a:pt x="0" y="27073"/>
                  </a:lnTo>
                  <a:cubicBezTo>
                    <a:pt x="0" y="12121"/>
                    <a:pt x="12121" y="0"/>
                    <a:pt x="270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2636097" cy="525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53267" y="7730803"/>
            <a:ext cx="10008929" cy="2321192"/>
            <a:chOff x="0" y="0"/>
            <a:chExt cx="2636097" cy="6113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36097" cy="611343"/>
            </a:xfrm>
            <a:custGeom>
              <a:avLst/>
              <a:gdLst/>
              <a:ahLst/>
              <a:cxnLst/>
              <a:rect r="r" b="b" t="t" l="l"/>
              <a:pathLst>
                <a:path h="611343" w="2636097">
                  <a:moveTo>
                    <a:pt x="27073" y="0"/>
                  </a:moveTo>
                  <a:lnTo>
                    <a:pt x="2609024" y="0"/>
                  </a:lnTo>
                  <a:cubicBezTo>
                    <a:pt x="2623976" y="0"/>
                    <a:pt x="2636097" y="12121"/>
                    <a:pt x="2636097" y="27073"/>
                  </a:cubicBezTo>
                  <a:lnTo>
                    <a:pt x="2636097" y="584270"/>
                  </a:lnTo>
                  <a:cubicBezTo>
                    <a:pt x="2636097" y="599222"/>
                    <a:pt x="2623976" y="611343"/>
                    <a:pt x="2609024" y="611343"/>
                  </a:cubicBezTo>
                  <a:lnTo>
                    <a:pt x="27073" y="611343"/>
                  </a:lnTo>
                  <a:cubicBezTo>
                    <a:pt x="12121" y="611343"/>
                    <a:pt x="0" y="599222"/>
                    <a:pt x="0" y="584270"/>
                  </a:cubicBezTo>
                  <a:lnTo>
                    <a:pt x="0" y="27073"/>
                  </a:lnTo>
                  <a:cubicBezTo>
                    <a:pt x="0" y="12121"/>
                    <a:pt x="12121" y="0"/>
                    <a:pt x="270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2636097" cy="525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53267" y="5000625"/>
            <a:ext cx="10008929" cy="2321192"/>
            <a:chOff x="0" y="0"/>
            <a:chExt cx="2636097" cy="6113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36097" cy="611343"/>
            </a:xfrm>
            <a:custGeom>
              <a:avLst/>
              <a:gdLst/>
              <a:ahLst/>
              <a:cxnLst/>
              <a:rect r="r" b="b" t="t" l="l"/>
              <a:pathLst>
                <a:path h="611343" w="2636097">
                  <a:moveTo>
                    <a:pt x="27073" y="0"/>
                  </a:moveTo>
                  <a:lnTo>
                    <a:pt x="2609024" y="0"/>
                  </a:lnTo>
                  <a:cubicBezTo>
                    <a:pt x="2623976" y="0"/>
                    <a:pt x="2636097" y="12121"/>
                    <a:pt x="2636097" y="27073"/>
                  </a:cubicBezTo>
                  <a:lnTo>
                    <a:pt x="2636097" y="584270"/>
                  </a:lnTo>
                  <a:cubicBezTo>
                    <a:pt x="2636097" y="599222"/>
                    <a:pt x="2623976" y="611343"/>
                    <a:pt x="2609024" y="611343"/>
                  </a:cubicBezTo>
                  <a:lnTo>
                    <a:pt x="27073" y="611343"/>
                  </a:lnTo>
                  <a:cubicBezTo>
                    <a:pt x="12121" y="611343"/>
                    <a:pt x="0" y="599222"/>
                    <a:pt x="0" y="584270"/>
                  </a:cubicBezTo>
                  <a:lnTo>
                    <a:pt x="0" y="27073"/>
                  </a:lnTo>
                  <a:cubicBezTo>
                    <a:pt x="0" y="12121"/>
                    <a:pt x="12121" y="0"/>
                    <a:pt x="270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85725"/>
              <a:ext cx="2636097" cy="525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763234" y="2633209"/>
            <a:ext cx="1386260" cy="1368932"/>
          </a:xfrm>
          <a:custGeom>
            <a:avLst/>
            <a:gdLst/>
            <a:ahLst/>
            <a:cxnLst/>
            <a:rect r="r" b="b" t="t" l="l"/>
            <a:pathLst>
              <a:path h="1368932" w="1386260">
                <a:moveTo>
                  <a:pt x="0" y="0"/>
                </a:moveTo>
                <a:lnTo>
                  <a:pt x="1386261" y="0"/>
                </a:lnTo>
                <a:lnTo>
                  <a:pt x="1386261" y="1368932"/>
                </a:lnTo>
                <a:lnTo>
                  <a:pt x="0" y="13689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763234" y="5434973"/>
            <a:ext cx="1380766" cy="1380766"/>
          </a:xfrm>
          <a:custGeom>
            <a:avLst/>
            <a:gdLst/>
            <a:ahLst/>
            <a:cxnLst/>
            <a:rect r="r" b="b" t="t" l="l"/>
            <a:pathLst>
              <a:path h="1380766" w="1380766">
                <a:moveTo>
                  <a:pt x="0" y="0"/>
                </a:moveTo>
                <a:lnTo>
                  <a:pt x="1380766" y="0"/>
                </a:lnTo>
                <a:lnTo>
                  <a:pt x="1380766" y="1380766"/>
                </a:lnTo>
                <a:lnTo>
                  <a:pt x="0" y="13807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85631" y="8279309"/>
            <a:ext cx="1535972" cy="1326696"/>
          </a:xfrm>
          <a:custGeom>
            <a:avLst/>
            <a:gdLst/>
            <a:ahLst/>
            <a:cxnLst/>
            <a:rect r="r" b="b" t="t" l="l"/>
            <a:pathLst>
              <a:path h="1326696" w="1535972">
                <a:moveTo>
                  <a:pt x="0" y="0"/>
                </a:moveTo>
                <a:lnTo>
                  <a:pt x="1535972" y="0"/>
                </a:lnTo>
                <a:lnTo>
                  <a:pt x="1535972" y="1326695"/>
                </a:lnTo>
                <a:lnTo>
                  <a:pt x="0" y="13266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14713" y="6960949"/>
            <a:ext cx="3453492" cy="2442561"/>
          </a:xfrm>
          <a:custGeom>
            <a:avLst/>
            <a:gdLst/>
            <a:ahLst/>
            <a:cxnLst/>
            <a:rect r="r" b="b" t="t" l="l"/>
            <a:pathLst>
              <a:path h="2442561" w="3453492">
                <a:moveTo>
                  <a:pt x="0" y="0"/>
                </a:moveTo>
                <a:lnTo>
                  <a:pt x="3453492" y="0"/>
                </a:lnTo>
                <a:lnTo>
                  <a:pt x="3453492" y="2442561"/>
                </a:lnTo>
                <a:lnTo>
                  <a:pt x="0" y="24425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45541" y="801351"/>
            <a:ext cx="4637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3000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ASTRO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21777" y="982670"/>
            <a:ext cx="12406403" cy="88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1"/>
              </a:lnSpc>
            </a:pPr>
            <a:r>
              <a:rPr lang="en-US" b="true" sz="6678" spc="-6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MAVJUD BIZNES MUAMMOLARI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07962" y="2551462"/>
            <a:ext cx="8054234" cy="87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3484" spc="-3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Narxlarning faqat inson omili orqali shakllanishi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9847" y="2603976"/>
            <a:ext cx="6486263" cy="413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3"/>
              </a:lnSpc>
            </a:pPr>
            <a:r>
              <a:rPr lang="en-US" sz="4462" spc="-93">
                <a:solidFill>
                  <a:srgbClr val="163B42"/>
                </a:solidFill>
                <a:latin typeface="Aileron"/>
                <a:ea typeface="Aileron"/>
                <a:cs typeface="Aileron"/>
                <a:sym typeface="Aileron"/>
              </a:rPr>
              <a:t>Ko‘chmas mulk bozorini tahlil qilish va mijozlarga ularning xohishiga mos uylarni tez, aniq hamda samarali topib berishga ko‘maklashish.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07962" y="3394182"/>
            <a:ext cx="8434637" cy="1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2680" spc="-56">
                <a:solidFill>
                  <a:srgbClr val="163B42"/>
                </a:solidFill>
                <a:latin typeface="Aileron Light"/>
                <a:ea typeface="Aileron Light"/>
                <a:cs typeface="Aileron Light"/>
                <a:sym typeface="Aileron Light"/>
              </a:rPr>
              <a:t>Narxlar subyektiv qarorlar asosida belgilanadi, bu esa xatoliklar va foyda yo‘qotilishiga olib keladi.</a:t>
            </a:r>
          </a:p>
          <a:p>
            <a:pPr algn="l">
              <a:lnSpc>
                <a:spcPts val="327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324978" y="6352990"/>
            <a:ext cx="8198605" cy="1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2680" spc="-56">
                <a:solidFill>
                  <a:srgbClr val="163B42"/>
                </a:solidFill>
                <a:latin typeface="Aileron Light"/>
                <a:ea typeface="Aileron Light"/>
                <a:cs typeface="Aileron Light"/>
                <a:sym typeface="Aileron Light"/>
              </a:rPr>
              <a:t>Ma’lumotlarga asoslangan boshqaruv tizimining mavjud emasligi strategik qarorlar samaradorligini pasaytiradi.</a:t>
            </a:r>
          </a:p>
          <a:p>
            <a:pPr algn="l">
              <a:lnSpc>
                <a:spcPts val="327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402723" y="5317104"/>
            <a:ext cx="8159473" cy="87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3484" spc="-3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Analytics va Data-Driven menejmentning yo‘qligi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03479" y="7983525"/>
            <a:ext cx="7855821" cy="75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b="true" sz="3028" spc="-28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Potensial mijozlar murojaatlarining 85% noto‘g‘ri tahlil qilinishi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03479" y="8881874"/>
            <a:ext cx="7126520" cy="143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397" spc="-50">
                <a:solidFill>
                  <a:srgbClr val="163B42"/>
                </a:solidFill>
                <a:latin typeface="Aileron Light"/>
                <a:ea typeface="Aileron Light"/>
                <a:cs typeface="Aileron Light"/>
                <a:sym typeface="Aileron Light"/>
              </a:rPr>
              <a:t>Murojaatlarning noto‘g‘ri tahlili savdo imkoniyatlarining yo‘qolishiga va mijozlar ehtiyojlarini qondirmaslikka sabab bo‘ladi.</a:t>
            </a:r>
          </a:p>
          <a:p>
            <a:pPr algn="l">
              <a:lnSpc>
                <a:spcPts val="292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120089">
            <a:off x="3539166" y="-3770006"/>
            <a:ext cx="13529234" cy="13529234"/>
          </a:xfrm>
          <a:custGeom>
            <a:avLst/>
            <a:gdLst/>
            <a:ahLst/>
            <a:cxnLst/>
            <a:rect r="r" b="b" t="t" l="l"/>
            <a:pathLst>
              <a:path h="13529234" w="13529234">
                <a:moveTo>
                  <a:pt x="0" y="0"/>
                </a:moveTo>
                <a:lnTo>
                  <a:pt x="13529233" y="0"/>
                </a:lnTo>
                <a:lnTo>
                  <a:pt x="13529233" y="13529233"/>
                </a:lnTo>
                <a:lnTo>
                  <a:pt x="0" y="135292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120089">
            <a:off x="162155" y="1596016"/>
            <a:ext cx="8981122" cy="8981122"/>
          </a:xfrm>
          <a:custGeom>
            <a:avLst/>
            <a:gdLst/>
            <a:ahLst/>
            <a:cxnLst/>
            <a:rect r="r" b="b" t="t" l="l"/>
            <a:pathLst>
              <a:path h="8981122" w="8981122">
                <a:moveTo>
                  <a:pt x="0" y="0"/>
                </a:moveTo>
                <a:lnTo>
                  <a:pt x="8981122" y="0"/>
                </a:lnTo>
                <a:lnTo>
                  <a:pt x="8981122" y="8981122"/>
                </a:lnTo>
                <a:lnTo>
                  <a:pt x="0" y="8981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923617" y="3861344"/>
            <a:ext cx="8719248" cy="2852345"/>
            <a:chOff x="0" y="0"/>
            <a:chExt cx="2296427" cy="7512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6427" cy="751235"/>
            </a:xfrm>
            <a:custGeom>
              <a:avLst/>
              <a:gdLst/>
              <a:ahLst/>
              <a:cxnLst/>
              <a:rect r="r" b="b" t="t" l="l"/>
              <a:pathLst>
                <a:path h="751235" w="2296427">
                  <a:moveTo>
                    <a:pt x="31077" y="0"/>
                  </a:moveTo>
                  <a:lnTo>
                    <a:pt x="2265350" y="0"/>
                  </a:lnTo>
                  <a:cubicBezTo>
                    <a:pt x="2282514" y="0"/>
                    <a:pt x="2296427" y="13914"/>
                    <a:pt x="2296427" y="31077"/>
                  </a:cubicBezTo>
                  <a:lnTo>
                    <a:pt x="2296427" y="720158"/>
                  </a:lnTo>
                  <a:cubicBezTo>
                    <a:pt x="2296427" y="737321"/>
                    <a:pt x="2282514" y="751235"/>
                    <a:pt x="2265350" y="751235"/>
                  </a:cubicBezTo>
                  <a:lnTo>
                    <a:pt x="31077" y="751235"/>
                  </a:lnTo>
                  <a:cubicBezTo>
                    <a:pt x="22835" y="751235"/>
                    <a:pt x="14930" y="747961"/>
                    <a:pt x="9102" y="742133"/>
                  </a:cubicBezTo>
                  <a:cubicBezTo>
                    <a:pt x="3274" y="736305"/>
                    <a:pt x="0" y="728400"/>
                    <a:pt x="0" y="720158"/>
                  </a:cubicBezTo>
                  <a:lnTo>
                    <a:pt x="0" y="31077"/>
                  </a:lnTo>
                  <a:cubicBezTo>
                    <a:pt x="0" y="22835"/>
                    <a:pt x="3274" y="14930"/>
                    <a:pt x="9102" y="9102"/>
                  </a:cubicBezTo>
                  <a:cubicBezTo>
                    <a:pt x="14930" y="3274"/>
                    <a:pt x="22835" y="0"/>
                    <a:pt x="310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2296427" cy="665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3617" y="706101"/>
            <a:ext cx="8748027" cy="2594482"/>
            <a:chOff x="0" y="0"/>
            <a:chExt cx="2304007" cy="68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4007" cy="683320"/>
            </a:xfrm>
            <a:custGeom>
              <a:avLst/>
              <a:gdLst/>
              <a:ahLst/>
              <a:cxnLst/>
              <a:rect r="r" b="b" t="t" l="l"/>
              <a:pathLst>
                <a:path h="683320" w="2304007">
                  <a:moveTo>
                    <a:pt x="30975" y="0"/>
                  </a:moveTo>
                  <a:lnTo>
                    <a:pt x="2273032" y="0"/>
                  </a:lnTo>
                  <a:cubicBezTo>
                    <a:pt x="2281247" y="0"/>
                    <a:pt x="2289126" y="3263"/>
                    <a:pt x="2294935" y="9072"/>
                  </a:cubicBezTo>
                  <a:cubicBezTo>
                    <a:pt x="2300744" y="14881"/>
                    <a:pt x="2304007" y="22760"/>
                    <a:pt x="2304007" y="30975"/>
                  </a:cubicBezTo>
                  <a:lnTo>
                    <a:pt x="2304007" y="652346"/>
                  </a:lnTo>
                  <a:cubicBezTo>
                    <a:pt x="2304007" y="669452"/>
                    <a:pt x="2290139" y="683320"/>
                    <a:pt x="2273032" y="683320"/>
                  </a:cubicBezTo>
                  <a:lnTo>
                    <a:pt x="30975" y="683320"/>
                  </a:lnTo>
                  <a:cubicBezTo>
                    <a:pt x="13868" y="683320"/>
                    <a:pt x="0" y="669452"/>
                    <a:pt x="0" y="652346"/>
                  </a:cubicBezTo>
                  <a:lnTo>
                    <a:pt x="0" y="30975"/>
                  </a:lnTo>
                  <a:cubicBezTo>
                    <a:pt x="0" y="13868"/>
                    <a:pt x="13868" y="0"/>
                    <a:pt x="309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304007" cy="597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7246634"/>
            <a:ext cx="8527644" cy="2594482"/>
            <a:chOff x="0" y="0"/>
            <a:chExt cx="2245964" cy="683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5964" cy="683320"/>
            </a:xfrm>
            <a:custGeom>
              <a:avLst/>
              <a:gdLst/>
              <a:ahLst/>
              <a:cxnLst/>
              <a:rect r="r" b="b" t="t" l="l"/>
              <a:pathLst>
                <a:path h="683320" w="2245964">
                  <a:moveTo>
                    <a:pt x="31775" y="0"/>
                  </a:moveTo>
                  <a:lnTo>
                    <a:pt x="2214189" y="0"/>
                  </a:lnTo>
                  <a:cubicBezTo>
                    <a:pt x="2222616" y="0"/>
                    <a:pt x="2230698" y="3348"/>
                    <a:pt x="2236657" y="9307"/>
                  </a:cubicBezTo>
                  <a:cubicBezTo>
                    <a:pt x="2242616" y="15266"/>
                    <a:pt x="2245964" y="23348"/>
                    <a:pt x="2245964" y="31775"/>
                  </a:cubicBezTo>
                  <a:lnTo>
                    <a:pt x="2245964" y="651545"/>
                  </a:lnTo>
                  <a:cubicBezTo>
                    <a:pt x="2245964" y="659972"/>
                    <a:pt x="2242616" y="668055"/>
                    <a:pt x="2236657" y="674014"/>
                  </a:cubicBezTo>
                  <a:cubicBezTo>
                    <a:pt x="2230698" y="679973"/>
                    <a:pt x="2222616" y="683320"/>
                    <a:pt x="2214189" y="683320"/>
                  </a:cubicBezTo>
                  <a:lnTo>
                    <a:pt x="31775" y="683320"/>
                  </a:lnTo>
                  <a:cubicBezTo>
                    <a:pt x="23348" y="683320"/>
                    <a:pt x="15266" y="679973"/>
                    <a:pt x="9307" y="674014"/>
                  </a:cubicBezTo>
                  <a:cubicBezTo>
                    <a:pt x="3348" y="668055"/>
                    <a:pt x="0" y="659972"/>
                    <a:pt x="0" y="651545"/>
                  </a:cubicBezTo>
                  <a:lnTo>
                    <a:pt x="0" y="31775"/>
                  </a:lnTo>
                  <a:cubicBezTo>
                    <a:pt x="0" y="23348"/>
                    <a:pt x="3348" y="15266"/>
                    <a:pt x="9307" y="9307"/>
                  </a:cubicBezTo>
                  <a:cubicBezTo>
                    <a:pt x="15266" y="3348"/>
                    <a:pt x="23348" y="0"/>
                    <a:pt x="317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2245964" cy="597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83975" y="1312272"/>
            <a:ext cx="8727688" cy="30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3"/>
              </a:lnSpc>
            </a:pPr>
            <a:r>
              <a:rPr lang="en-US" b="true" sz="8003" spc="-7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Bozor hajmi va maqsadli auditoriya</a:t>
            </a:r>
          </a:p>
          <a:p>
            <a:pPr algn="l">
              <a:lnSpc>
                <a:spcPts val="7923"/>
              </a:lnSpc>
            </a:pP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02289" y="2775448"/>
            <a:ext cx="10710011" cy="8110785"/>
          </a:xfrm>
          <a:prstGeom prst="rect">
            <a:avLst/>
          </a:prstGeom>
        </p:spPr>
      </p:pic>
      <p:sp>
        <p:nvSpPr>
          <p:cNvPr name="Freeform 16" id="16"/>
          <p:cNvSpPr/>
          <p:nvPr/>
        </p:nvSpPr>
        <p:spPr>
          <a:xfrm flipH="false" flipV="false" rot="0">
            <a:off x="9144000" y="1299335"/>
            <a:ext cx="1891742" cy="1318980"/>
          </a:xfrm>
          <a:custGeom>
            <a:avLst/>
            <a:gdLst/>
            <a:ahLst/>
            <a:cxnLst/>
            <a:rect r="r" b="b" t="t" l="l"/>
            <a:pathLst>
              <a:path h="1318980" w="1891742">
                <a:moveTo>
                  <a:pt x="0" y="0"/>
                </a:moveTo>
                <a:lnTo>
                  <a:pt x="1891742" y="0"/>
                </a:lnTo>
                <a:lnTo>
                  <a:pt x="1891742" y="1318980"/>
                </a:lnTo>
                <a:lnTo>
                  <a:pt x="0" y="13189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217570" y="4375090"/>
            <a:ext cx="1633163" cy="1895020"/>
          </a:xfrm>
          <a:custGeom>
            <a:avLst/>
            <a:gdLst/>
            <a:ahLst/>
            <a:cxnLst/>
            <a:rect r="r" b="b" t="t" l="l"/>
            <a:pathLst>
              <a:path h="1895020" w="1633163">
                <a:moveTo>
                  <a:pt x="0" y="0"/>
                </a:moveTo>
                <a:lnTo>
                  <a:pt x="1633162" y="0"/>
                </a:lnTo>
                <a:lnTo>
                  <a:pt x="1633162" y="1895020"/>
                </a:lnTo>
                <a:lnTo>
                  <a:pt x="0" y="18950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11664" y="7709308"/>
            <a:ext cx="1669133" cy="1669133"/>
          </a:xfrm>
          <a:custGeom>
            <a:avLst/>
            <a:gdLst/>
            <a:ahLst/>
            <a:cxnLst/>
            <a:rect r="r" b="b" t="t" l="l"/>
            <a:pathLst>
              <a:path h="1669133" w="1669133">
                <a:moveTo>
                  <a:pt x="0" y="0"/>
                </a:moveTo>
                <a:lnTo>
                  <a:pt x="1669133" y="0"/>
                </a:lnTo>
                <a:lnTo>
                  <a:pt x="1669133" y="1669133"/>
                </a:lnTo>
                <a:lnTo>
                  <a:pt x="0" y="16691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035742" y="4060546"/>
            <a:ext cx="6147040" cy="86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b="true" sz="3432" spc="-32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SAM—Xizmat ko‘rsatish mumkin bo‘lgan bozor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35742" y="989476"/>
            <a:ext cx="5048909" cy="51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3940" spc="-37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TAM — Umumiy bozor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82435" y="5449939"/>
            <a:ext cx="6413692" cy="126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809" spc="-5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Raqamli boshqaruvga o‘tish jarayoni jadallashib, sun’iy intellektga bo‘lgan talab tobora ortib bormoqda.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12260" y="1949300"/>
            <a:ext cx="6989175" cy="159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666" spc="-5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Ko‘chmas mulk xaridlarida ipoteka kreditlariga asoslangan ulkan moliyaviy imkoniyat, CRM platformasi uchun keng bozorni ifodalaydi.</a:t>
            </a:r>
          </a:p>
          <a:p>
            <a:pPr algn="l">
              <a:lnSpc>
                <a:spcPts val="3252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035742" y="7385968"/>
            <a:ext cx="6560430" cy="90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b="true" sz="3136" spc="-29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SOM — Egallash mumkin bo‘lgan bozor</a:t>
            </a:r>
          </a:p>
          <a:p>
            <a:pPr algn="l">
              <a:lnSpc>
                <a:spcPts val="354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082435" y="8578611"/>
            <a:ext cx="6176865" cy="135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280" spc="-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K</a:t>
            </a:r>
            <a:r>
              <a:rPr lang="en-US" sz="2280" spc="-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o‘chmas mulk agentliklari va rieltorlar uchun AI asosidagi innovatsion yechimlarga ehtiyoj kuchaymoqda.</a:t>
            </a:r>
          </a:p>
          <a:p>
            <a:pPr algn="l">
              <a:lnSpc>
                <a:spcPts val="2781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082435" y="1467263"/>
            <a:ext cx="2956115" cy="536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b="true" sz="3485" spc="-7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$1.7</a:t>
            </a:r>
            <a:r>
              <a:rPr lang="en-US" b="true" sz="3485" spc="-7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 milliard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12260" y="4923386"/>
            <a:ext cx="4944134" cy="536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b="true" sz="3485" spc="-7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319,500</a:t>
            </a:r>
            <a:r>
              <a:rPr lang="en-US" b="true" sz="3485" spc="-7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 ta bitim / yil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35742" y="7951940"/>
            <a:ext cx="6460385" cy="52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b="true" sz="3407" spc="-7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$5–10</a:t>
            </a:r>
            <a:r>
              <a:rPr lang="en-US" b="true" sz="3407" spc="-7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 million yillik daromad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83975" y="411408"/>
            <a:ext cx="834256" cy="83425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608731" y="695186"/>
            <a:ext cx="4637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3000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ASTRO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563270" y="1418866"/>
          <a:ext cx="13863517" cy="8868134"/>
        </p:xfrm>
        <a:graphic>
          <a:graphicData uri="http://schemas.openxmlformats.org/drawingml/2006/table">
            <a:tbl>
              <a:tblPr/>
              <a:tblGrid>
                <a:gridCol w="3210931"/>
                <a:gridCol w="2349063"/>
                <a:gridCol w="3310931"/>
                <a:gridCol w="2887291"/>
                <a:gridCol w="2105301"/>
              </a:tblGrid>
              <a:tr h="13105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17171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Zoho Zia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171717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HubSpot 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b="true" sz="2899">
                          <a:solidFill>
                            <a:srgbClr val="17171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Xususiyat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17171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Roof 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17171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Salesforce Einstein 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09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17171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CRM ustiga qurilgan AI platforma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22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171717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 estate uchun moslashtirilgan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35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171717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CRM’dan mos uylarni tavsiya qilish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8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17171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Mijozlar bilan interaktiv tahlil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92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7171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Mahalliy bozorga moslashish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96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171717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CRM tizimlariga bog‘liqlik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511074" y="2970451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48902" y="3127657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93982" y="3098403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5" y="0"/>
                </a:lnTo>
                <a:lnTo>
                  <a:pt x="603565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66571" y="2970451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66571" y="4327279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66571" y="5586454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2"/>
                </a:lnTo>
                <a:lnTo>
                  <a:pt x="0" y="566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66571" y="6848031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66571" y="8278490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95029" y="4293985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2" y="0"/>
                </a:lnTo>
                <a:lnTo>
                  <a:pt x="581092" y="599547"/>
                </a:lnTo>
                <a:lnTo>
                  <a:pt x="0" y="599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98969" y="367241"/>
            <a:ext cx="19869807" cy="188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2"/>
              </a:lnSpc>
            </a:pPr>
            <a:r>
              <a:rPr lang="en-US" b="true" sz="7355" spc="-691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Yechim + Raqobatchilar tahlili</a:t>
            </a:r>
          </a:p>
          <a:p>
            <a:pPr algn="l">
              <a:lnSpc>
                <a:spcPts val="7282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533546" y="5586454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2" y="0"/>
                </a:lnTo>
                <a:lnTo>
                  <a:pt x="581092" y="599546"/>
                </a:lnTo>
                <a:lnTo>
                  <a:pt x="0" y="59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60138" y="4293985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7"/>
                </a:lnTo>
                <a:lnTo>
                  <a:pt x="0" y="599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95029" y="6831385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2" y="0"/>
                </a:lnTo>
                <a:lnTo>
                  <a:pt x="581092" y="599546"/>
                </a:lnTo>
                <a:lnTo>
                  <a:pt x="0" y="59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22310" y="8126256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7"/>
                </a:lnTo>
                <a:lnTo>
                  <a:pt x="0" y="599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093982" y="5553160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6"/>
                </a:lnTo>
                <a:lnTo>
                  <a:pt x="0" y="59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093982" y="4379031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7"/>
                </a:lnTo>
                <a:lnTo>
                  <a:pt x="0" y="599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671373" y="5586454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6"/>
                </a:lnTo>
                <a:lnTo>
                  <a:pt x="0" y="59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19089" y="6814738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6"/>
                </a:lnTo>
                <a:lnTo>
                  <a:pt x="0" y="59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19089" y="8109609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7"/>
                </a:lnTo>
                <a:lnTo>
                  <a:pt x="0" y="599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093982" y="6809931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7"/>
                </a:lnTo>
                <a:lnTo>
                  <a:pt x="0" y="599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093982" y="8126256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7"/>
                </a:lnTo>
                <a:lnTo>
                  <a:pt x="0" y="599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489042" y="9441773"/>
            <a:ext cx="581093" cy="599547"/>
          </a:xfrm>
          <a:custGeom>
            <a:avLst/>
            <a:gdLst/>
            <a:ahLst/>
            <a:cxnLst/>
            <a:rect r="r" b="b" t="t" l="l"/>
            <a:pathLst>
              <a:path h="599547" w="581093">
                <a:moveTo>
                  <a:pt x="0" y="0"/>
                </a:moveTo>
                <a:lnTo>
                  <a:pt x="581093" y="0"/>
                </a:lnTo>
                <a:lnTo>
                  <a:pt x="581093" y="599546"/>
                </a:lnTo>
                <a:lnTo>
                  <a:pt x="0" y="59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02" r="0" b="-14802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472557" y="9421128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719089" y="9337806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5" y="0"/>
                </a:lnTo>
                <a:lnTo>
                  <a:pt x="603565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093982" y="9337806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5" y="0"/>
                </a:lnTo>
                <a:lnTo>
                  <a:pt x="603565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557737" y="2970451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671373" y="3127657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5" y="0"/>
                </a:lnTo>
                <a:lnTo>
                  <a:pt x="603565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093982" y="3098403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5" y="0"/>
                </a:lnTo>
                <a:lnTo>
                  <a:pt x="603565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77807" y="4327279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489042" y="5587655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466571" y="6809931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466571" y="8278490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483793" y="9421128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719089" y="9337806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5" y="0"/>
                </a:lnTo>
                <a:lnTo>
                  <a:pt x="603565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082747" y="9337806"/>
            <a:ext cx="603564" cy="566253"/>
          </a:xfrm>
          <a:custGeom>
            <a:avLst/>
            <a:gdLst/>
            <a:ahLst/>
            <a:cxnLst/>
            <a:rect r="r" b="b" t="t" l="l"/>
            <a:pathLst>
              <a:path h="566253" w="603564">
                <a:moveTo>
                  <a:pt x="0" y="0"/>
                </a:moveTo>
                <a:lnTo>
                  <a:pt x="603564" y="0"/>
                </a:lnTo>
                <a:lnTo>
                  <a:pt x="603564" y="566253"/>
                </a:lnTo>
                <a:lnTo>
                  <a:pt x="0" y="566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505542" y="4251079"/>
            <a:ext cx="614628" cy="599547"/>
          </a:xfrm>
          <a:custGeom>
            <a:avLst/>
            <a:gdLst/>
            <a:ahLst/>
            <a:cxnLst/>
            <a:rect r="r" b="b" t="t" l="l"/>
            <a:pathLst>
              <a:path h="599547" w="614628">
                <a:moveTo>
                  <a:pt x="0" y="0"/>
                </a:moveTo>
                <a:lnTo>
                  <a:pt x="614628" y="0"/>
                </a:lnTo>
                <a:lnTo>
                  <a:pt x="614628" y="599546"/>
                </a:lnTo>
                <a:lnTo>
                  <a:pt x="0" y="59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8542" r="0" b="-18542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583975" y="333177"/>
            <a:ext cx="834256" cy="83425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608731" y="616955"/>
            <a:ext cx="4637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3000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ASTRO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146271">
            <a:off x="5411574" y="-5966036"/>
            <a:ext cx="8137868" cy="81378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6261">
                    <a:alpha val="10000"/>
                  </a:srgbClr>
                </a:gs>
                <a:gs pos="100000">
                  <a:srgbClr val="6F9F97">
                    <a:alpha val="10000"/>
                  </a:srgbClr>
                </a:gs>
              </a:gsLst>
              <a:lin ang="0"/>
            </a:gradFill>
            <a:ln w="19050" cap="sq">
              <a:solidFill>
                <a:srgbClr val="163B42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6146271">
            <a:off x="4419996" y="-1924472"/>
            <a:ext cx="2365580" cy="23655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6261">
                    <a:alpha val="10000"/>
                  </a:srgbClr>
                </a:gs>
                <a:gs pos="100000">
                  <a:srgbClr val="6F9F97">
                    <a:alpha val="10000"/>
                  </a:srgbClr>
                </a:gs>
              </a:gsLst>
              <a:lin ang="0"/>
            </a:gradFill>
            <a:ln w="19050" cap="sq">
              <a:solidFill>
                <a:srgbClr val="163B42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45541" y="801351"/>
            <a:ext cx="4637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3000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ASTRO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87655" y="625709"/>
            <a:ext cx="12066912" cy="246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b="true" sz="9600" spc="-90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Monetizatsiya modeli</a:t>
            </a:r>
          </a:p>
          <a:p>
            <a:pPr algn="l">
              <a:lnSpc>
                <a:spcPts val="950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449175" y="546591"/>
            <a:ext cx="834256" cy="776221"/>
            <a:chOff x="0" y="0"/>
            <a:chExt cx="812800" cy="7562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56258"/>
            </a:xfrm>
            <a:custGeom>
              <a:avLst/>
              <a:gdLst/>
              <a:ahLst/>
              <a:cxnLst/>
              <a:rect r="r" b="b" t="t" l="l"/>
              <a:pathLst>
                <a:path h="756258" w="812800">
                  <a:moveTo>
                    <a:pt x="406400" y="0"/>
                  </a:moveTo>
                  <a:cubicBezTo>
                    <a:pt x="181951" y="0"/>
                    <a:pt x="0" y="169294"/>
                    <a:pt x="0" y="378129"/>
                  </a:cubicBezTo>
                  <a:cubicBezTo>
                    <a:pt x="0" y="586964"/>
                    <a:pt x="181951" y="756258"/>
                    <a:pt x="406400" y="756258"/>
                  </a:cubicBezTo>
                  <a:cubicBezTo>
                    <a:pt x="630849" y="756258"/>
                    <a:pt x="812800" y="586964"/>
                    <a:pt x="812800" y="378129"/>
                  </a:cubicBezTo>
                  <a:cubicBezTo>
                    <a:pt x="812800" y="169294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738" r="0" b="-373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5058" y="2071298"/>
            <a:ext cx="4707729" cy="7949986"/>
            <a:chOff x="0" y="0"/>
            <a:chExt cx="1435623" cy="2424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5623" cy="2424350"/>
            </a:xfrm>
            <a:custGeom>
              <a:avLst/>
              <a:gdLst/>
              <a:ahLst/>
              <a:cxnLst/>
              <a:rect r="r" b="b" t="t" l="l"/>
              <a:pathLst>
                <a:path h="2424350" w="1435623">
                  <a:moveTo>
                    <a:pt x="57558" y="0"/>
                  </a:moveTo>
                  <a:lnTo>
                    <a:pt x="1378065" y="0"/>
                  </a:lnTo>
                  <a:cubicBezTo>
                    <a:pt x="1409853" y="0"/>
                    <a:pt x="1435623" y="25770"/>
                    <a:pt x="1435623" y="57558"/>
                  </a:cubicBezTo>
                  <a:lnTo>
                    <a:pt x="1435623" y="2366792"/>
                  </a:lnTo>
                  <a:cubicBezTo>
                    <a:pt x="1435623" y="2382057"/>
                    <a:pt x="1429559" y="2396697"/>
                    <a:pt x="1418765" y="2407492"/>
                  </a:cubicBezTo>
                  <a:cubicBezTo>
                    <a:pt x="1407970" y="2418286"/>
                    <a:pt x="1393330" y="2424350"/>
                    <a:pt x="1378065" y="2424350"/>
                  </a:cubicBezTo>
                  <a:lnTo>
                    <a:pt x="57558" y="2424350"/>
                  </a:lnTo>
                  <a:cubicBezTo>
                    <a:pt x="25770" y="2424350"/>
                    <a:pt x="0" y="2398580"/>
                    <a:pt x="0" y="2366792"/>
                  </a:cubicBezTo>
                  <a:lnTo>
                    <a:pt x="0" y="57558"/>
                  </a:lnTo>
                  <a:cubicBezTo>
                    <a:pt x="0" y="25770"/>
                    <a:pt x="25770" y="0"/>
                    <a:pt x="575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1435623" cy="2338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90136" y="2071298"/>
            <a:ext cx="4707729" cy="7949986"/>
            <a:chOff x="0" y="0"/>
            <a:chExt cx="1435623" cy="2424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5623" cy="2424350"/>
            </a:xfrm>
            <a:custGeom>
              <a:avLst/>
              <a:gdLst/>
              <a:ahLst/>
              <a:cxnLst/>
              <a:rect r="r" b="b" t="t" l="l"/>
              <a:pathLst>
                <a:path h="2424350" w="1435623">
                  <a:moveTo>
                    <a:pt x="57558" y="0"/>
                  </a:moveTo>
                  <a:lnTo>
                    <a:pt x="1378065" y="0"/>
                  </a:lnTo>
                  <a:cubicBezTo>
                    <a:pt x="1409853" y="0"/>
                    <a:pt x="1435623" y="25770"/>
                    <a:pt x="1435623" y="57558"/>
                  </a:cubicBezTo>
                  <a:lnTo>
                    <a:pt x="1435623" y="2366792"/>
                  </a:lnTo>
                  <a:cubicBezTo>
                    <a:pt x="1435623" y="2382057"/>
                    <a:pt x="1429559" y="2396697"/>
                    <a:pt x="1418765" y="2407492"/>
                  </a:cubicBezTo>
                  <a:cubicBezTo>
                    <a:pt x="1407970" y="2418286"/>
                    <a:pt x="1393330" y="2424350"/>
                    <a:pt x="1378065" y="2424350"/>
                  </a:cubicBezTo>
                  <a:lnTo>
                    <a:pt x="57558" y="2424350"/>
                  </a:lnTo>
                  <a:cubicBezTo>
                    <a:pt x="25770" y="2424350"/>
                    <a:pt x="0" y="2398580"/>
                    <a:pt x="0" y="2366792"/>
                  </a:cubicBezTo>
                  <a:lnTo>
                    <a:pt x="0" y="57558"/>
                  </a:lnTo>
                  <a:cubicBezTo>
                    <a:pt x="0" y="25770"/>
                    <a:pt x="25770" y="0"/>
                    <a:pt x="575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1435623" cy="2338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16877" y="2071298"/>
            <a:ext cx="5575952" cy="7949986"/>
            <a:chOff x="0" y="0"/>
            <a:chExt cx="1700388" cy="2424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0388" cy="2424350"/>
            </a:xfrm>
            <a:custGeom>
              <a:avLst/>
              <a:gdLst/>
              <a:ahLst/>
              <a:cxnLst/>
              <a:rect r="r" b="b" t="t" l="l"/>
              <a:pathLst>
                <a:path h="2424350" w="1700388">
                  <a:moveTo>
                    <a:pt x="48596" y="0"/>
                  </a:moveTo>
                  <a:lnTo>
                    <a:pt x="1651792" y="0"/>
                  </a:lnTo>
                  <a:cubicBezTo>
                    <a:pt x="1678631" y="0"/>
                    <a:pt x="1700388" y="21757"/>
                    <a:pt x="1700388" y="48596"/>
                  </a:cubicBezTo>
                  <a:lnTo>
                    <a:pt x="1700388" y="2375754"/>
                  </a:lnTo>
                  <a:cubicBezTo>
                    <a:pt x="1700388" y="2388643"/>
                    <a:pt x="1695268" y="2401003"/>
                    <a:pt x="1686154" y="2410117"/>
                  </a:cubicBezTo>
                  <a:cubicBezTo>
                    <a:pt x="1677041" y="2419230"/>
                    <a:pt x="1664681" y="2424350"/>
                    <a:pt x="1651792" y="2424350"/>
                  </a:cubicBezTo>
                  <a:lnTo>
                    <a:pt x="48596" y="2424350"/>
                  </a:lnTo>
                  <a:cubicBezTo>
                    <a:pt x="35707" y="2424350"/>
                    <a:pt x="23347" y="2419230"/>
                    <a:pt x="14233" y="2410117"/>
                  </a:cubicBezTo>
                  <a:cubicBezTo>
                    <a:pt x="5120" y="2401003"/>
                    <a:pt x="0" y="2388643"/>
                    <a:pt x="0" y="2375754"/>
                  </a:cubicBezTo>
                  <a:lnTo>
                    <a:pt x="0" y="48596"/>
                  </a:lnTo>
                  <a:cubicBezTo>
                    <a:pt x="0" y="35707"/>
                    <a:pt x="5120" y="23347"/>
                    <a:pt x="14233" y="14233"/>
                  </a:cubicBezTo>
                  <a:cubicBezTo>
                    <a:pt x="23347" y="5120"/>
                    <a:pt x="35707" y="0"/>
                    <a:pt x="485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85725"/>
              <a:ext cx="1700388" cy="2338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498632" y="4905722"/>
            <a:ext cx="5394197" cy="587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3"/>
              </a:lnSpc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Business paketidagi barcha imkoniyatlar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Sun’iy intellekt asosida narx optimallashtirish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Mijoz xatti-harakatlarini bashorat qilish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K</a:t>
            </a: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engaytirilgan analitika</a:t>
            </a: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v</a:t>
            </a: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a prognozlash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Max</a:t>
            </a: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sus sozlamalar va modullar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Cheksiz</a:t>
            </a: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foydalanuvchilar</a:t>
            </a:r>
          </a:p>
          <a:p>
            <a:pPr algn="l">
              <a:lnSpc>
                <a:spcPts val="3323"/>
              </a:lnSpc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   </a:t>
            </a:r>
            <a:r>
              <a:rPr lang="en-US" b="true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*</a:t>
            </a: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 AI tokenlar narxi individual hisoblanadi</a:t>
            </a:r>
          </a:p>
          <a:p>
            <a:pPr algn="l">
              <a:lnSpc>
                <a:spcPts val="3323"/>
              </a:lnSpc>
            </a:pPr>
          </a:p>
          <a:p>
            <a:pPr algn="l">
              <a:lnSpc>
                <a:spcPts val="3323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696014" y="2453698"/>
            <a:ext cx="2809233" cy="78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891" spc="-553">
                <a:solidFill>
                  <a:srgbClr val="163B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5891" spc="-55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Starter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2134" y="5534372"/>
            <a:ext cx="4920652" cy="46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Asosiy CRM funksiyalari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Mijozlar bazasini boshqarish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Leadlarni qo‘lda kiritish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Oddiy </a:t>
            </a: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savdo jarayoni kuzatuvi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Asosiy hisobotlar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Chekl</a:t>
            </a: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angan foydalanuvchilar soni</a:t>
            </a:r>
          </a:p>
          <a:p>
            <a:pPr algn="l" marL="588186" indent="-294093" lvl="1">
              <a:lnSpc>
                <a:spcPts val="3323"/>
              </a:lnSpc>
              <a:buFont typeface="Arial"/>
              <a:buChar char="•"/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Email orqali qo‘llab-quvvatlash</a:t>
            </a:r>
          </a:p>
          <a:p>
            <a:pPr algn="l">
              <a:lnSpc>
                <a:spcPts val="3323"/>
              </a:lnSpc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   * AI tokenlar narxi individual </a:t>
            </a:r>
          </a:p>
          <a:p>
            <a:pPr algn="l">
              <a:lnSpc>
                <a:spcPts val="3323"/>
              </a:lnSpc>
            </a:pPr>
            <a:r>
              <a:rPr lang="en-US" sz="2724" spc="-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      hisoblanadi</a:t>
            </a:r>
          </a:p>
          <a:p>
            <a:pPr algn="l">
              <a:lnSpc>
                <a:spcPts val="3323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68793" y="3388587"/>
            <a:ext cx="4065850" cy="95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4"/>
              </a:lnSpc>
            </a:pPr>
            <a:r>
              <a:rPr lang="en-US" b="true" sz="7327" spc="-68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$4.99 / oy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8793" y="4611687"/>
            <a:ext cx="4160259" cy="71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691" spc="-20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"/>
                <a:ea typeface="Aileron"/>
                <a:cs typeface="Aileron"/>
                <a:sym typeface="Aileron"/>
              </a:rPr>
              <a:t>KICHIK BIZNES VA YANGI BOSHLOVCHILAR UCHUN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89812" y="2450075"/>
            <a:ext cx="2437741" cy="68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b="true" sz="5112" spc="-48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Business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0806" y="4966176"/>
            <a:ext cx="4891897" cy="541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883" indent="-271442" lvl="1">
              <a:lnSpc>
                <a:spcPts val="3067"/>
              </a:lnSpc>
              <a:buFont typeface="Arial"/>
              <a:buChar char="•"/>
            </a:pP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Starter paketidagi barcha imkoniyatlar</a:t>
            </a:r>
          </a:p>
          <a:p>
            <a:pPr algn="l" marL="542883" indent="-271442" lvl="1">
              <a:lnSpc>
                <a:spcPts val="3067"/>
              </a:lnSpc>
              <a:buFont typeface="Arial"/>
              <a:buChar char="•"/>
            </a:pP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Leadlarni avtomatik tahlil qilish</a:t>
            </a:r>
          </a:p>
          <a:p>
            <a:pPr algn="l" marL="542883" indent="-271442" lvl="1">
              <a:lnSpc>
                <a:spcPts val="3067"/>
              </a:lnSpc>
              <a:buFont typeface="Arial"/>
              <a:buChar char="•"/>
            </a:pP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Analitika va Data-Driven bo</a:t>
            </a: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shqaruv</a:t>
            </a:r>
          </a:p>
          <a:p>
            <a:pPr algn="l" marL="542883" indent="-271442" lvl="1">
              <a:lnSpc>
                <a:spcPts val="3067"/>
              </a:lnSpc>
              <a:buFont typeface="Arial"/>
              <a:buChar char="•"/>
            </a:pP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Savdo jarayonlarini avtomatlashtirish</a:t>
            </a:r>
          </a:p>
          <a:p>
            <a:pPr algn="l" marL="542883" indent="-271442" lvl="1">
              <a:lnSpc>
                <a:spcPts val="3067"/>
              </a:lnSpc>
              <a:buFont typeface="Arial"/>
              <a:buChar char="•"/>
            </a:pP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Real vaqt hisobotlari va das</a:t>
            </a: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hbo</a:t>
            </a: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ard</a:t>
            </a:r>
          </a:p>
          <a:p>
            <a:pPr algn="l" marL="542883" indent="-271442" lvl="1">
              <a:lnSpc>
                <a:spcPts val="3067"/>
              </a:lnSpc>
              <a:buFont typeface="Arial"/>
              <a:buChar char="•"/>
            </a:pP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Integratsiyalar (Email, Telegram, API)</a:t>
            </a:r>
          </a:p>
          <a:p>
            <a:pPr algn="l">
              <a:lnSpc>
                <a:spcPts val="3067"/>
              </a:lnSpc>
            </a:pP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      * AI tokenlar narxi individual   </a:t>
            </a:r>
          </a:p>
          <a:p>
            <a:pPr algn="l">
              <a:lnSpc>
                <a:spcPts val="3067"/>
              </a:lnSpc>
            </a:pPr>
            <a:r>
              <a:rPr lang="en-US" sz="2514" spc="-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Light"/>
                <a:ea typeface="Aileron Light"/>
                <a:cs typeface="Aileron Light"/>
                <a:sym typeface="Aileron Light"/>
              </a:rPr>
              <a:t>          hisoblanadi</a:t>
            </a:r>
          </a:p>
          <a:p>
            <a:pPr algn="l">
              <a:lnSpc>
                <a:spcPts val="306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294368" y="3243943"/>
            <a:ext cx="3624773" cy="99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5"/>
              </a:lnSpc>
            </a:pPr>
            <a:r>
              <a:rPr lang="en-US" b="true" sz="7601" spc="-71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$19 / oy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37606" y="4297746"/>
            <a:ext cx="4160259" cy="67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691" spc="-20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"/>
                <a:ea typeface="Aileron"/>
                <a:cs typeface="Aileron"/>
                <a:sym typeface="Aileron"/>
              </a:rPr>
              <a:t>O‘SIB BORAYOTGAN KOMPANIYALAR UCHUN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53268" y="2195123"/>
            <a:ext cx="3002598" cy="83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4"/>
              </a:lnSpc>
            </a:pPr>
            <a:r>
              <a:rPr lang="en-US" b="true" sz="6297" spc="-59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Pro *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73092" y="3017547"/>
            <a:ext cx="3725716" cy="102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5"/>
              </a:lnSpc>
            </a:pPr>
            <a:r>
              <a:rPr lang="en-US" b="true" sz="7813" spc="-73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$49 / oy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98632" y="4181599"/>
            <a:ext cx="4844313" cy="73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  <a:r>
              <a:rPr lang="en-US" sz="2691" spc="-20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"/>
                <a:ea typeface="Aileron"/>
                <a:cs typeface="Aileron"/>
                <a:sym typeface="Aileron"/>
              </a:rPr>
              <a:t>YIRIK BIZNES VA KORPORATSIYALAR UCHUN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6762" y="-1437670"/>
            <a:ext cx="16089874" cy="16487995"/>
            <a:chOff x="0" y="0"/>
            <a:chExt cx="21453165" cy="21983993"/>
          </a:xfrm>
        </p:grpSpPr>
        <p:sp>
          <p:nvSpPr>
            <p:cNvPr name="Freeform 3" id="3"/>
            <p:cNvSpPr/>
            <p:nvPr/>
          </p:nvSpPr>
          <p:spPr>
            <a:xfrm flipH="false" flipV="false" rot="7999235">
              <a:off x="-157295" y="6511921"/>
              <a:ext cx="21767756" cy="8960152"/>
            </a:xfrm>
            <a:custGeom>
              <a:avLst/>
              <a:gdLst/>
              <a:ahLst/>
              <a:cxnLst/>
              <a:rect r="r" b="b" t="t" l="l"/>
              <a:pathLst>
                <a:path h="8960152" w="21767756">
                  <a:moveTo>
                    <a:pt x="0" y="0"/>
                  </a:moveTo>
                  <a:lnTo>
                    <a:pt x="21767756" y="0"/>
                  </a:lnTo>
                  <a:lnTo>
                    <a:pt x="21767756" y="8960152"/>
                  </a:lnTo>
                  <a:lnTo>
                    <a:pt x="0" y="8960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</a:blip>
              <a:stretch>
                <a:fillRect l="0" t="-71469" r="0" b="-71469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120089">
              <a:off x="3251500" y="5833604"/>
              <a:ext cx="15341479" cy="10316786"/>
            </a:xfrm>
            <a:custGeom>
              <a:avLst/>
              <a:gdLst/>
              <a:ahLst/>
              <a:cxnLst/>
              <a:rect r="r" b="b" t="t" l="l"/>
              <a:pathLst>
                <a:path h="10316786" w="15341479">
                  <a:moveTo>
                    <a:pt x="0" y="0"/>
                  </a:moveTo>
                  <a:lnTo>
                    <a:pt x="15341479" y="0"/>
                  </a:lnTo>
                  <a:lnTo>
                    <a:pt x="15341479" y="10316785"/>
                  </a:lnTo>
                  <a:lnTo>
                    <a:pt x="0" y="1031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</a:blip>
              <a:stretch>
                <a:fillRect l="0" t="-24352" r="0" b="-24352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2503484" y="6195892"/>
            <a:ext cx="8781543" cy="0"/>
          </a:xfrm>
          <a:prstGeom prst="line">
            <a:avLst/>
          </a:prstGeom>
          <a:ln cap="rnd" w="11430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2522534" y="2949772"/>
            <a:ext cx="0" cy="3246120"/>
          </a:xfrm>
          <a:prstGeom prst="line">
            <a:avLst/>
          </a:prstGeom>
          <a:ln cap="flat" w="5715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665876" y="6195892"/>
            <a:ext cx="0" cy="3246120"/>
          </a:xfrm>
          <a:prstGeom prst="line">
            <a:avLst/>
          </a:prstGeom>
          <a:ln cap="flat" w="5715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8185930" y="2949772"/>
            <a:ext cx="0" cy="3246120"/>
          </a:xfrm>
          <a:prstGeom prst="line">
            <a:avLst/>
          </a:prstGeom>
          <a:ln cap="flat" w="5715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1285027" y="6195892"/>
            <a:ext cx="0" cy="3246120"/>
          </a:xfrm>
          <a:prstGeom prst="line">
            <a:avLst/>
          </a:prstGeom>
          <a:ln cap="flat" w="5715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814132" y="2346579"/>
            <a:ext cx="4743617" cy="3086100"/>
            <a:chOff x="0" y="0"/>
            <a:chExt cx="1249348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9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249348">
                  <a:moveTo>
                    <a:pt x="27745" y="0"/>
                  </a:moveTo>
                  <a:lnTo>
                    <a:pt x="1221603" y="0"/>
                  </a:lnTo>
                  <a:cubicBezTo>
                    <a:pt x="1236926" y="0"/>
                    <a:pt x="1249348" y="12422"/>
                    <a:pt x="1249348" y="27745"/>
                  </a:cubicBezTo>
                  <a:lnTo>
                    <a:pt x="1249348" y="785055"/>
                  </a:lnTo>
                  <a:cubicBezTo>
                    <a:pt x="1249348" y="800378"/>
                    <a:pt x="1236926" y="812800"/>
                    <a:pt x="1221603" y="812800"/>
                  </a:cubicBezTo>
                  <a:lnTo>
                    <a:pt x="27745" y="812800"/>
                  </a:lnTo>
                  <a:cubicBezTo>
                    <a:pt x="12422" y="812800"/>
                    <a:pt x="0" y="800378"/>
                    <a:pt x="0" y="785055"/>
                  </a:cubicBezTo>
                  <a:lnTo>
                    <a:pt x="0" y="27745"/>
                  </a:lnTo>
                  <a:cubicBezTo>
                    <a:pt x="0" y="12422"/>
                    <a:pt x="12422" y="0"/>
                    <a:pt x="277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249348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332979" y="2854522"/>
            <a:ext cx="1852962" cy="91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6"/>
              </a:lnSpc>
              <a:spcBef>
                <a:spcPct val="0"/>
              </a:spcBef>
            </a:pPr>
            <a:r>
              <a:rPr lang="en-US" b="true" sz="5483" spc="-5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HOZIR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32979" y="4098186"/>
            <a:ext cx="2584558" cy="151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5"/>
              </a:lnSpc>
              <a:spcBef>
                <a:spcPct val="0"/>
              </a:spcBef>
            </a:pPr>
            <a:r>
              <a:rPr lang="en-US" sz="4382" spc="-41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MVP </a:t>
            </a:r>
            <a:r>
              <a:rPr lang="en-US" sz="4382" spc="-41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tayyor</a:t>
            </a:r>
          </a:p>
          <a:p>
            <a:pPr algn="l">
              <a:lnSpc>
                <a:spcPts val="6135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5017650" y="6806328"/>
            <a:ext cx="4743617" cy="3086100"/>
            <a:chOff x="0" y="0"/>
            <a:chExt cx="1249348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9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249348">
                  <a:moveTo>
                    <a:pt x="27745" y="0"/>
                  </a:moveTo>
                  <a:lnTo>
                    <a:pt x="1221603" y="0"/>
                  </a:lnTo>
                  <a:cubicBezTo>
                    <a:pt x="1236926" y="0"/>
                    <a:pt x="1249348" y="12422"/>
                    <a:pt x="1249348" y="27745"/>
                  </a:cubicBezTo>
                  <a:lnTo>
                    <a:pt x="1249348" y="785055"/>
                  </a:lnTo>
                  <a:cubicBezTo>
                    <a:pt x="1249348" y="800378"/>
                    <a:pt x="1236926" y="812800"/>
                    <a:pt x="1221603" y="812800"/>
                  </a:cubicBezTo>
                  <a:lnTo>
                    <a:pt x="27745" y="812800"/>
                  </a:lnTo>
                  <a:cubicBezTo>
                    <a:pt x="12422" y="812800"/>
                    <a:pt x="0" y="800378"/>
                    <a:pt x="0" y="785055"/>
                  </a:cubicBezTo>
                  <a:lnTo>
                    <a:pt x="0" y="27745"/>
                  </a:lnTo>
                  <a:cubicBezTo>
                    <a:pt x="0" y="12422"/>
                    <a:pt x="12422" y="0"/>
                    <a:pt x="277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1249348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536497" y="7069379"/>
            <a:ext cx="1185389" cy="187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6"/>
              </a:lnSpc>
            </a:pPr>
            <a:r>
              <a:rPr lang="en-US" b="true" sz="5483" spc="-5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6 oy</a:t>
            </a:r>
          </a:p>
          <a:p>
            <a:pPr algn="l">
              <a:lnSpc>
                <a:spcPts val="7676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577115" y="8226546"/>
            <a:ext cx="3566885" cy="57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8"/>
              </a:lnSpc>
              <a:spcBef>
                <a:spcPct val="0"/>
              </a:spcBef>
            </a:pPr>
            <a:r>
              <a:rPr lang="en-US" sz="3463" spc="-3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80   ta foydalanuvchi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57435" y="2346579"/>
            <a:ext cx="4743617" cy="3086100"/>
            <a:chOff x="0" y="0"/>
            <a:chExt cx="1249348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9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249348">
                  <a:moveTo>
                    <a:pt x="27745" y="0"/>
                  </a:moveTo>
                  <a:lnTo>
                    <a:pt x="1221603" y="0"/>
                  </a:lnTo>
                  <a:cubicBezTo>
                    <a:pt x="1236926" y="0"/>
                    <a:pt x="1249348" y="12422"/>
                    <a:pt x="1249348" y="27745"/>
                  </a:cubicBezTo>
                  <a:lnTo>
                    <a:pt x="1249348" y="785055"/>
                  </a:lnTo>
                  <a:cubicBezTo>
                    <a:pt x="1249348" y="800378"/>
                    <a:pt x="1236926" y="812800"/>
                    <a:pt x="1221603" y="812800"/>
                  </a:cubicBezTo>
                  <a:lnTo>
                    <a:pt x="27745" y="812800"/>
                  </a:lnTo>
                  <a:cubicBezTo>
                    <a:pt x="12422" y="812800"/>
                    <a:pt x="0" y="800378"/>
                    <a:pt x="0" y="785055"/>
                  </a:cubicBezTo>
                  <a:lnTo>
                    <a:pt x="0" y="27745"/>
                  </a:lnTo>
                  <a:cubicBezTo>
                    <a:pt x="0" y="12422"/>
                    <a:pt x="12422" y="0"/>
                    <a:pt x="277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47625"/>
              <a:ext cx="1249348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097298" y="2696663"/>
            <a:ext cx="1023949" cy="91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6"/>
              </a:lnSpc>
              <a:spcBef>
                <a:spcPct val="0"/>
              </a:spcBef>
            </a:pPr>
            <a:r>
              <a:rPr lang="en-US" b="true" sz="5483" spc="-5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1 yil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37452" y="6806328"/>
            <a:ext cx="4743617" cy="3086100"/>
            <a:chOff x="0" y="0"/>
            <a:chExt cx="1249348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9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249348">
                  <a:moveTo>
                    <a:pt x="27745" y="0"/>
                  </a:moveTo>
                  <a:lnTo>
                    <a:pt x="1221603" y="0"/>
                  </a:lnTo>
                  <a:cubicBezTo>
                    <a:pt x="1236926" y="0"/>
                    <a:pt x="1249348" y="12422"/>
                    <a:pt x="1249348" y="27745"/>
                  </a:cubicBezTo>
                  <a:lnTo>
                    <a:pt x="1249348" y="785055"/>
                  </a:lnTo>
                  <a:cubicBezTo>
                    <a:pt x="1249348" y="800378"/>
                    <a:pt x="1236926" y="812800"/>
                    <a:pt x="1221603" y="812800"/>
                  </a:cubicBezTo>
                  <a:lnTo>
                    <a:pt x="27745" y="812800"/>
                  </a:lnTo>
                  <a:cubicBezTo>
                    <a:pt x="12422" y="812800"/>
                    <a:pt x="0" y="800378"/>
                    <a:pt x="0" y="785055"/>
                  </a:cubicBezTo>
                  <a:lnTo>
                    <a:pt x="0" y="27745"/>
                  </a:lnTo>
                  <a:cubicBezTo>
                    <a:pt x="0" y="12422"/>
                    <a:pt x="12422" y="0"/>
                    <a:pt x="277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1249348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151802" y="7069379"/>
            <a:ext cx="1068545" cy="91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6"/>
              </a:lnSpc>
              <a:spcBef>
                <a:spcPct val="0"/>
              </a:spcBef>
            </a:pPr>
            <a:r>
              <a:rPr lang="en-US" b="true" sz="5483" spc="-5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3 yil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51802" y="8160298"/>
            <a:ext cx="4100946" cy="64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1"/>
              </a:lnSpc>
              <a:spcBef>
                <a:spcPct val="0"/>
              </a:spcBef>
            </a:pPr>
            <a:r>
              <a:rPr lang="en-US" sz="3843" spc="-36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500 ta foydalanuvchi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06016" y="8743396"/>
            <a:ext cx="3491282" cy="57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8"/>
              </a:lnSpc>
              <a:spcBef>
                <a:spcPct val="0"/>
              </a:spcBef>
            </a:pPr>
            <a:r>
              <a:rPr lang="en-US" sz="3463" spc="-3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$ 70 000    daromad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10735" y="3832479"/>
            <a:ext cx="3810148" cy="57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8"/>
              </a:lnSpc>
              <a:spcBef>
                <a:spcPct val="0"/>
              </a:spcBef>
            </a:pPr>
            <a:r>
              <a:rPr lang="en-US" sz="3463" spc="-3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200</a:t>
            </a:r>
            <a:r>
              <a:rPr lang="en-US" sz="3463" spc="-3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   ta foydalanuvchi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10735" y="4450335"/>
            <a:ext cx="3783281" cy="57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8"/>
              </a:lnSpc>
              <a:spcBef>
                <a:spcPct val="0"/>
              </a:spcBef>
            </a:pPr>
            <a:r>
              <a:rPr lang="en-US" sz="3463" spc="-3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$ 200 000    daromad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51802" y="8733871"/>
            <a:ext cx="1957443" cy="64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1"/>
              </a:lnSpc>
              <a:spcBef>
                <a:spcPct val="0"/>
              </a:spcBef>
            </a:pPr>
            <a:r>
              <a:rPr lang="en-US" sz="3843" spc="-36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Kengayish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657836" y="790918"/>
            <a:ext cx="14489080" cy="109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1"/>
              </a:lnSpc>
            </a:pPr>
            <a:r>
              <a:rPr lang="en-US" b="true" sz="8284" spc="-77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Milestones — Maqsadlar va KPI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258155" y="2546584"/>
            <a:ext cx="490658" cy="490658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51DB">
                    <a:alpha val="100000"/>
                  </a:srgbClr>
                </a:gs>
                <a:gs pos="100000">
                  <a:srgbClr val="7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940601" y="2546584"/>
            <a:ext cx="490658" cy="490658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51DB">
                    <a:alpha val="100000"/>
                  </a:srgbClr>
                </a:gs>
                <a:gs pos="100000">
                  <a:srgbClr val="7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420547" y="9374119"/>
            <a:ext cx="490658" cy="490658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51DB">
                    <a:alpha val="100000"/>
                  </a:srgbClr>
                </a:gs>
                <a:gs pos="100000">
                  <a:srgbClr val="7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039698" y="9258300"/>
            <a:ext cx="490658" cy="490658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51DB">
                    <a:alpha val="100000"/>
                  </a:srgbClr>
                </a:gs>
                <a:gs pos="100000">
                  <a:srgbClr val="7FFA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649310" y="895350"/>
            <a:ext cx="4637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3000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ASTRO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11572" y="640590"/>
            <a:ext cx="834256" cy="776221"/>
            <a:chOff x="0" y="0"/>
            <a:chExt cx="812800" cy="75625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756258"/>
            </a:xfrm>
            <a:custGeom>
              <a:avLst/>
              <a:gdLst/>
              <a:ahLst/>
              <a:cxnLst/>
              <a:rect r="r" b="b" t="t" l="l"/>
              <a:pathLst>
                <a:path h="756258" w="812800">
                  <a:moveTo>
                    <a:pt x="406400" y="0"/>
                  </a:moveTo>
                  <a:cubicBezTo>
                    <a:pt x="181951" y="0"/>
                    <a:pt x="0" y="169294"/>
                    <a:pt x="0" y="378129"/>
                  </a:cubicBezTo>
                  <a:cubicBezTo>
                    <a:pt x="0" y="586964"/>
                    <a:pt x="181951" y="756258"/>
                    <a:pt x="406400" y="756258"/>
                  </a:cubicBezTo>
                  <a:cubicBezTo>
                    <a:pt x="630849" y="756258"/>
                    <a:pt x="812800" y="586964"/>
                    <a:pt x="812800" y="378129"/>
                  </a:cubicBezTo>
                  <a:cubicBezTo>
                    <a:pt x="812800" y="169294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738" r="0" b="-3738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146271">
            <a:off x="16921710" y="-1207713"/>
            <a:ext cx="2105769" cy="210576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6261">
                    <a:alpha val="22000"/>
                  </a:srgbClr>
                </a:gs>
                <a:gs pos="100000">
                  <a:srgbClr val="6F9F97">
                    <a:alpha val="22000"/>
                  </a:srgbClr>
                </a:gs>
              </a:gsLst>
              <a:lin ang="0"/>
            </a:gradFill>
            <a:ln w="19050" cap="sq">
              <a:solidFill>
                <a:srgbClr val="163B42">
                  <a:alpha val="21961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6146271">
            <a:off x="8154763" y="9054204"/>
            <a:ext cx="3834033" cy="383403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6261">
                    <a:alpha val="22000"/>
                  </a:srgbClr>
                </a:gs>
                <a:gs pos="100000">
                  <a:srgbClr val="6F9F97">
                    <a:alpha val="22000"/>
                  </a:srgbClr>
                </a:gs>
              </a:gsLst>
              <a:lin ang="0"/>
            </a:gradFill>
            <a:ln w="19050" cap="sq">
              <a:solidFill>
                <a:srgbClr val="163B42">
                  <a:alpha val="21961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6698" y="5218866"/>
            <a:ext cx="3298938" cy="4797588"/>
            <a:chOff x="0" y="0"/>
            <a:chExt cx="780162" cy="1134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163" cy="1134576"/>
            </a:xfrm>
            <a:custGeom>
              <a:avLst/>
              <a:gdLst/>
              <a:ahLst/>
              <a:cxnLst/>
              <a:rect r="r" b="b" t="t" l="l"/>
              <a:pathLst>
                <a:path h="1134576" w="780163">
                  <a:moveTo>
                    <a:pt x="79791" y="0"/>
                  </a:moveTo>
                  <a:lnTo>
                    <a:pt x="700372" y="0"/>
                  </a:lnTo>
                  <a:cubicBezTo>
                    <a:pt x="744439" y="0"/>
                    <a:pt x="780163" y="35724"/>
                    <a:pt x="780163" y="79791"/>
                  </a:cubicBezTo>
                  <a:lnTo>
                    <a:pt x="780163" y="1054786"/>
                  </a:lnTo>
                  <a:cubicBezTo>
                    <a:pt x="780163" y="1075947"/>
                    <a:pt x="771756" y="1096243"/>
                    <a:pt x="756792" y="1111206"/>
                  </a:cubicBezTo>
                  <a:cubicBezTo>
                    <a:pt x="741829" y="1126170"/>
                    <a:pt x="721533" y="1134576"/>
                    <a:pt x="700372" y="1134576"/>
                  </a:cubicBezTo>
                  <a:lnTo>
                    <a:pt x="79791" y="1134576"/>
                  </a:lnTo>
                  <a:cubicBezTo>
                    <a:pt x="35724" y="1134576"/>
                    <a:pt x="0" y="1098853"/>
                    <a:pt x="0" y="1054786"/>
                  </a:cubicBezTo>
                  <a:lnTo>
                    <a:pt x="0" y="79791"/>
                  </a:lnTo>
                  <a:cubicBezTo>
                    <a:pt x="0" y="58629"/>
                    <a:pt x="8407" y="38334"/>
                    <a:pt x="23370" y="23370"/>
                  </a:cubicBezTo>
                  <a:cubicBezTo>
                    <a:pt x="38334" y="8407"/>
                    <a:pt x="58629" y="0"/>
                    <a:pt x="797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93000"/>
                  </a:srgbClr>
                </a:gs>
                <a:gs pos="100000">
                  <a:srgbClr val="3533CD">
                    <a:alpha val="93000"/>
                  </a:srgbClr>
                </a:gs>
              </a:gsLst>
              <a:lin ang="0"/>
            </a:gradFill>
            <a:ln w="19050" cap="rnd">
              <a:solidFill>
                <a:srgbClr val="163B42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780162" cy="1115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35637" y="5238881"/>
            <a:ext cx="3284560" cy="4777573"/>
            <a:chOff x="0" y="0"/>
            <a:chExt cx="780162" cy="11347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0163" cy="1134789"/>
            </a:xfrm>
            <a:custGeom>
              <a:avLst/>
              <a:gdLst/>
              <a:ahLst/>
              <a:cxnLst/>
              <a:rect r="r" b="b" t="t" l="l"/>
              <a:pathLst>
                <a:path h="1134789" w="780163">
                  <a:moveTo>
                    <a:pt x="80140" y="0"/>
                  </a:moveTo>
                  <a:lnTo>
                    <a:pt x="700022" y="0"/>
                  </a:lnTo>
                  <a:cubicBezTo>
                    <a:pt x="721277" y="0"/>
                    <a:pt x="741661" y="8443"/>
                    <a:pt x="756690" y="23473"/>
                  </a:cubicBezTo>
                  <a:cubicBezTo>
                    <a:pt x="771719" y="38502"/>
                    <a:pt x="780163" y="58886"/>
                    <a:pt x="780163" y="80140"/>
                  </a:cubicBezTo>
                  <a:lnTo>
                    <a:pt x="780163" y="1054649"/>
                  </a:lnTo>
                  <a:cubicBezTo>
                    <a:pt x="780163" y="1075904"/>
                    <a:pt x="771719" y="1096288"/>
                    <a:pt x="756690" y="1111317"/>
                  </a:cubicBezTo>
                  <a:cubicBezTo>
                    <a:pt x="741661" y="1126346"/>
                    <a:pt x="721277" y="1134789"/>
                    <a:pt x="700022" y="1134789"/>
                  </a:cubicBezTo>
                  <a:lnTo>
                    <a:pt x="80140" y="1134789"/>
                  </a:lnTo>
                  <a:cubicBezTo>
                    <a:pt x="58886" y="1134789"/>
                    <a:pt x="38502" y="1126346"/>
                    <a:pt x="23473" y="1111317"/>
                  </a:cubicBezTo>
                  <a:cubicBezTo>
                    <a:pt x="8443" y="1096288"/>
                    <a:pt x="0" y="1075904"/>
                    <a:pt x="0" y="1054649"/>
                  </a:cubicBezTo>
                  <a:lnTo>
                    <a:pt x="0" y="80140"/>
                  </a:lnTo>
                  <a:cubicBezTo>
                    <a:pt x="0" y="58886"/>
                    <a:pt x="8443" y="38502"/>
                    <a:pt x="23473" y="23473"/>
                  </a:cubicBezTo>
                  <a:cubicBezTo>
                    <a:pt x="38502" y="8443"/>
                    <a:pt x="58886" y="0"/>
                    <a:pt x="801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51DB">
                    <a:alpha val="93000"/>
                  </a:srgbClr>
                </a:gs>
                <a:gs pos="100000">
                  <a:srgbClr val="7FFAFF">
                    <a:alpha val="93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163B42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780162" cy="1115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4182" y="4056060"/>
            <a:ext cx="2549257" cy="3133947"/>
            <a:chOff x="0" y="0"/>
            <a:chExt cx="354630" cy="4359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4630" cy="435967"/>
            </a:xfrm>
            <a:custGeom>
              <a:avLst/>
              <a:gdLst/>
              <a:ahLst/>
              <a:cxnLst/>
              <a:rect r="r" b="b" t="t" l="l"/>
              <a:pathLst>
                <a:path h="435967" w="354630">
                  <a:moveTo>
                    <a:pt x="57702" y="0"/>
                  </a:moveTo>
                  <a:lnTo>
                    <a:pt x="296928" y="0"/>
                  </a:lnTo>
                  <a:cubicBezTo>
                    <a:pt x="328796" y="0"/>
                    <a:pt x="354630" y="25834"/>
                    <a:pt x="354630" y="57702"/>
                  </a:cubicBezTo>
                  <a:lnTo>
                    <a:pt x="354630" y="378265"/>
                  </a:lnTo>
                  <a:cubicBezTo>
                    <a:pt x="354630" y="410133"/>
                    <a:pt x="328796" y="435967"/>
                    <a:pt x="296928" y="435967"/>
                  </a:cubicBezTo>
                  <a:lnTo>
                    <a:pt x="57702" y="435967"/>
                  </a:lnTo>
                  <a:cubicBezTo>
                    <a:pt x="25834" y="435967"/>
                    <a:pt x="0" y="410133"/>
                    <a:pt x="0" y="378265"/>
                  </a:cubicBezTo>
                  <a:lnTo>
                    <a:pt x="0" y="57702"/>
                  </a:lnTo>
                  <a:cubicBezTo>
                    <a:pt x="0" y="25834"/>
                    <a:pt x="25834" y="0"/>
                    <a:pt x="57702" y="0"/>
                  </a:cubicBezTo>
                  <a:close/>
                </a:path>
              </a:pathLst>
            </a:custGeom>
            <a:blipFill>
              <a:blip r:embed="rId2"/>
              <a:stretch>
                <a:fillRect l="-11467" t="0" r="-11467" b="0"/>
              </a:stretch>
            </a:blipFill>
            <a:ln w="19050" cap="sq">
              <a:solidFill>
                <a:srgbClr val="163B4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358667" y="4081143"/>
            <a:ext cx="2538146" cy="3120288"/>
            <a:chOff x="0" y="0"/>
            <a:chExt cx="354630" cy="4359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4630" cy="435967"/>
            </a:xfrm>
            <a:custGeom>
              <a:avLst/>
              <a:gdLst/>
              <a:ahLst/>
              <a:cxnLst/>
              <a:rect r="r" b="b" t="t" l="l"/>
              <a:pathLst>
                <a:path h="435967" w="354630">
                  <a:moveTo>
                    <a:pt x="57954" y="0"/>
                  </a:moveTo>
                  <a:lnTo>
                    <a:pt x="296676" y="0"/>
                  </a:lnTo>
                  <a:cubicBezTo>
                    <a:pt x="328683" y="0"/>
                    <a:pt x="354630" y="25947"/>
                    <a:pt x="354630" y="57954"/>
                  </a:cubicBezTo>
                  <a:lnTo>
                    <a:pt x="354630" y="378013"/>
                  </a:lnTo>
                  <a:cubicBezTo>
                    <a:pt x="354630" y="410020"/>
                    <a:pt x="328683" y="435967"/>
                    <a:pt x="296676" y="435967"/>
                  </a:cubicBezTo>
                  <a:lnTo>
                    <a:pt x="57954" y="435967"/>
                  </a:lnTo>
                  <a:cubicBezTo>
                    <a:pt x="25947" y="435967"/>
                    <a:pt x="0" y="410020"/>
                    <a:pt x="0" y="378013"/>
                  </a:cubicBezTo>
                  <a:lnTo>
                    <a:pt x="0" y="57954"/>
                  </a:lnTo>
                  <a:cubicBezTo>
                    <a:pt x="0" y="25947"/>
                    <a:pt x="25947" y="0"/>
                    <a:pt x="57954" y="0"/>
                  </a:cubicBezTo>
                  <a:close/>
                </a:path>
              </a:pathLst>
            </a:custGeom>
            <a:blipFill>
              <a:blip r:embed="rId3"/>
              <a:stretch>
                <a:fillRect l="-11467" t="0" r="-11467" b="0"/>
              </a:stretch>
            </a:blipFill>
            <a:ln w="19050" cap="sq">
              <a:solidFill>
                <a:srgbClr val="163B4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358296" y="5293206"/>
            <a:ext cx="3254736" cy="4723248"/>
            <a:chOff x="0" y="0"/>
            <a:chExt cx="780162" cy="11321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0163" cy="1132166"/>
            </a:xfrm>
            <a:custGeom>
              <a:avLst/>
              <a:gdLst/>
              <a:ahLst/>
              <a:cxnLst/>
              <a:rect r="r" b="b" t="t" l="l"/>
              <a:pathLst>
                <a:path h="1132166" w="780163">
                  <a:moveTo>
                    <a:pt x="80875" y="0"/>
                  </a:moveTo>
                  <a:lnTo>
                    <a:pt x="699288" y="0"/>
                  </a:lnTo>
                  <a:cubicBezTo>
                    <a:pt x="743954" y="0"/>
                    <a:pt x="780163" y="36209"/>
                    <a:pt x="780163" y="80875"/>
                  </a:cubicBezTo>
                  <a:lnTo>
                    <a:pt x="780163" y="1051291"/>
                  </a:lnTo>
                  <a:cubicBezTo>
                    <a:pt x="780163" y="1095957"/>
                    <a:pt x="743954" y="1132166"/>
                    <a:pt x="699288" y="1132166"/>
                  </a:cubicBezTo>
                  <a:lnTo>
                    <a:pt x="80875" y="1132166"/>
                  </a:lnTo>
                  <a:cubicBezTo>
                    <a:pt x="59425" y="1132166"/>
                    <a:pt x="38855" y="1123645"/>
                    <a:pt x="23688" y="1108478"/>
                  </a:cubicBezTo>
                  <a:cubicBezTo>
                    <a:pt x="8521" y="1093311"/>
                    <a:pt x="0" y="1072740"/>
                    <a:pt x="0" y="1051291"/>
                  </a:cubicBezTo>
                  <a:lnTo>
                    <a:pt x="0" y="80875"/>
                  </a:lnTo>
                  <a:cubicBezTo>
                    <a:pt x="0" y="59425"/>
                    <a:pt x="8521" y="38855"/>
                    <a:pt x="23688" y="23688"/>
                  </a:cubicBezTo>
                  <a:cubicBezTo>
                    <a:pt x="38855" y="8521"/>
                    <a:pt x="59425" y="0"/>
                    <a:pt x="808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93000"/>
                  </a:srgbClr>
                </a:gs>
                <a:gs pos="100000">
                  <a:srgbClr val="3533CD">
                    <a:alpha val="93000"/>
                  </a:srgbClr>
                </a:gs>
              </a:gsLst>
              <a:lin ang="0"/>
            </a:gradFill>
            <a:ln w="19050" cap="rnd">
              <a:solidFill>
                <a:srgbClr val="163B42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780162" cy="1113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98490" y="5329000"/>
            <a:ext cx="3227296" cy="4687454"/>
            <a:chOff x="0" y="0"/>
            <a:chExt cx="780162" cy="11331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0163" cy="1133139"/>
            </a:xfrm>
            <a:custGeom>
              <a:avLst/>
              <a:gdLst/>
              <a:ahLst/>
              <a:cxnLst/>
              <a:rect r="r" b="b" t="t" l="l"/>
              <a:pathLst>
                <a:path h="1133139" w="780163">
                  <a:moveTo>
                    <a:pt x="81562" y="0"/>
                  </a:moveTo>
                  <a:lnTo>
                    <a:pt x="698600" y="0"/>
                  </a:lnTo>
                  <a:cubicBezTo>
                    <a:pt x="720232" y="0"/>
                    <a:pt x="740978" y="8593"/>
                    <a:pt x="756274" y="23889"/>
                  </a:cubicBezTo>
                  <a:cubicBezTo>
                    <a:pt x="771569" y="39185"/>
                    <a:pt x="780163" y="59931"/>
                    <a:pt x="780163" y="81562"/>
                  </a:cubicBezTo>
                  <a:lnTo>
                    <a:pt x="780163" y="1051577"/>
                  </a:lnTo>
                  <a:cubicBezTo>
                    <a:pt x="780163" y="1073209"/>
                    <a:pt x="771569" y="1093954"/>
                    <a:pt x="756274" y="1109250"/>
                  </a:cubicBezTo>
                  <a:cubicBezTo>
                    <a:pt x="740978" y="1124546"/>
                    <a:pt x="720232" y="1133139"/>
                    <a:pt x="698600" y="1133139"/>
                  </a:cubicBezTo>
                  <a:lnTo>
                    <a:pt x="81562" y="1133139"/>
                  </a:lnTo>
                  <a:cubicBezTo>
                    <a:pt x="59931" y="1133139"/>
                    <a:pt x="39185" y="1124546"/>
                    <a:pt x="23889" y="1109250"/>
                  </a:cubicBezTo>
                  <a:cubicBezTo>
                    <a:pt x="8593" y="1093954"/>
                    <a:pt x="0" y="1073209"/>
                    <a:pt x="0" y="1051577"/>
                  </a:cubicBezTo>
                  <a:lnTo>
                    <a:pt x="0" y="81562"/>
                  </a:lnTo>
                  <a:cubicBezTo>
                    <a:pt x="0" y="59931"/>
                    <a:pt x="8593" y="39185"/>
                    <a:pt x="23889" y="23889"/>
                  </a:cubicBezTo>
                  <a:cubicBezTo>
                    <a:pt x="39185" y="8593"/>
                    <a:pt x="59931" y="0"/>
                    <a:pt x="815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51DB">
                    <a:alpha val="93000"/>
                  </a:srgbClr>
                </a:gs>
                <a:gs pos="100000">
                  <a:srgbClr val="7FFAFF">
                    <a:alpha val="93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163B42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780162" cy="1114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067916" y="4191446"/>
            <a:ext cx="2493896" cy="3065888"/>
            <a:chOff x="0" y="0"/>
            <a:chExt cx="354630" cy="4359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4630" cy="435967"/>
            </a:xfrm>
            <a:custGeom>
              <a:avLst/>
              <a:gdLst/>
              <a:ahLst/>
              <a:cxnLst/>
              <a:rect r="r" b="b" t="t" l="l"/>
              <a:pathLst>
                <a:path h="435967" w="354630">
                  <a:moveTo>
                    <a:pt x="58983" y="0"/>
                  </a:moveTo>
                  <a:lnTo>
                    <a:pt x="295647" y="0"/>
                  </a:lnTo>
                  <a:cubicBezTo>
                    <a:pt x="311291" y="0"/>
                    <a:pt x="326293" y="6214"/>
                    <a:pt x="337354" y="17276"/>
                  </a:cubicBezTo>
                  <a:cubicBezTo>
                    <a:pt x="348416" y="28337"/>
                    <a:pt x="354630" y="43339"/>
                    <a:pt x="354630" y="58983"/>
                  </a:cubicBezTo>
                  <a:lnTo>
                    <a:pt x="354630" y="376984"/>
                  </a:lnTo>
                  <a:cubicBezTo>
                    <a:pt x="354630" y="392628"/>
                    <a:pt x="348416" y="407630"/>
                    <a:pt x="337354" y="418691"/>
                  </a:cubicBezTo>
                  <a:cubicBezTo>
                    <a:pt x="326293" y="429753"/>
                    <a:pt x="311291" y="435967"/>
                    <a:pt x="295647" y="435967"/>
                  </a:cubicBezTo>
                  <a:lnTo>
                    <a:pt x="58983" y="435967"/>
                  </a:lnTo>
                  <a:cubicBezTo>
                    <a:pt x="43339" y="435967"/>
                    <a:pt x="28337" y="429753"/>
                    <a:pt x="17276" y="418691"/>
                  </a:cubicBezTo>
                  <a:cubicBezTo>
                    <a:pt x="6214" y="407630"/>
                    <a:pt x="0" y="392628"/>
                    <a:pt x="0" y="376984"/>
                  </a:cubicBezTo>
                  <a:lnTo>
                    <a:pt x="0" y="58983"/>
                  </a:lnTo>
                  <a:cubicBezTo>
                    <a:pt x="0" y="43339"/>
                    <a:pt x="6214" y="28337"/>
                    <a:pt x="17276" y="17276"/>
                  </a:cubicBezTo>
                  <a:cubicBezTo>
                    <a:pt x="28337" y="6214"/>
                    <a:pt x="43339" y="0"/>
                    <a:pt x="58983" y="0"/>
                  </a:cubicBezTo>
                  <a:close/>
                </a:path>
              </a:pathLst>
            </a:custGeom>
            <a:blipFill>
              <a:blip r:embed="rId4"/>
              <a:stretch>
                <a:fillRect l="-9393" t="0" r="-9393" b="0"/>
              </a:stretch>
            </a:blipFill>
            <a:ln w="19050" cap="sq">
              <a:solidFill>
                <a:srgbClr val="163B4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925787" y="5396537"/>
            <a:ext cx="3171297" cy="4619917"/>
            <a:chOff x="0" y="0"/>
            <a:chExt cx="780162" cy="11365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0163" cy="1136534"/>
            </a:xfrm>
            <a:custGeom>
              <a:avLst/>
              <a:gdLst/>
              <a:ahLst/>
              <a:cxnLst/>
              <a:rect r="r" b="b" t="t" l="l"/>
              <a:pathLst>
                <a:path h="1136534" w="780163">
                  <a:moveTo>
                    <a:pt x="83002" y="0"/>
                  </a:moveTo>
                  <a:lnTo>
                    <a:pt x="697160" y="0"/>
                  </a:lnTo>
                  <a:cubicBezTo>
                    <a:pt x="743001" y="0"/>
                    <a:pt x="780163" y="37161"/>
                    <a:pt x="780163" y="83002"/>
                  </a:cubicBezTo>
                  <a:lnTo>
                    <a:pt x="780163" y="1053532"/>
                  </a:lnTo>
                  <a:cubicBezTo>
                    <a:pt x="780163" y="1075545"/>
                    <a:pt x="771418" y="1096657"/>
                    <a:pt x="755852" y="1112223"/>
                  </a:cubicBezTo>
                  <a:cubicBezTo>
                    <a:pt x="740286" y="1127789"/>
                    <a:pt x="719174" y="1136534"/>
                    <a:pt x="697160" y="1136534"/>
                  </a:cubicBezTo>
                  <a:lnTo>
                    <a:pt x="83002" y="1136534"/>
                  </a:lnTo>
                  <a:cubicBezTo>
                    <a:pt x="37161" y="1136534"/>
                    <a:pt x="0" y="1099372"/>
                    <a:pt x="0" y="1053532"/>
                  </a:cubicBezTo>
                  <a:lnTo>
                    <a:pt x="0" y="83002"/>
                  </a:lnTo>
                  <a:cubicBezTo>
                    <a:pt x="0" y="37161"/>
                    <a:pt x="37161" y="0"/>
                    <a:pt x="830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93000"/>
                  </a:srgbClr>
                </a:gs>
                <a:gs pos="100000">
                  <a:srgbClr val="3533CD">
                    <a:alpha val="93000"/>
                  </a:srgbClr>
                </a:gs>
              </a:gsLst>
              <a:lin ang="0"/>
            </a:gradFill>
            <a:ln w="19050" cap="rnd">
              <a:solidFill>
                <a:srgbClr val="163B42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780162" cy="1117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61708" y="474804"/>
            <a:ext cx="602858" cy="60285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344767" y="4278722"/>
            <a:ext cx="2450622" cy="3012689"/>
            <a:chOff x="0" y="0"/>
            <a:chExt cx="354630" cy="43596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4630" cy="435967"/>
            </a:xfrm>
            <a:custGeom>
              <a:avLst/>
              <a:gdLst/>
              <a:ahLst/>
              <a:cxnLst/>
              <a:rect r="r" b="b" t="t" l="l"/>
              <a:pathLst>
                <a:path h="435967" w="354630">
                  <a:moveTo>
                    <a:pt x="60024" y="0"/>
                  </a:moveTo>
                  <a:lnTo>
                    <a:pt x="294606" y="0"/>
                  </a:lnTo>
                  <a:cubicBezTo>
                    <a:pt x="327756" y="0"/>
                    <a:pt x="354630" y="26874"/>
                    <a:pt x="354630" y="60024"/>
                  </a:cubicBezTo>
                  <a:lnTo>
                    <a:pt x="354630" y="375943"/>
                  </a:lnTo>
                  <a:cubicBezTo>
                    <a:pt x="354630" y="391862"/>
                    <a:pt x="348306" y="407130"/>
                    <a:pt x="337049" y="418386"/>
                  </a:cubicBezTo>
                  <a:cubicBezTo>
                    <a:pt x="325793" y="429643"/>
                    <a:pt x="310525" y="435967"/>
                    <a:pt x="294606" y="435967"/>
                  </a:cubicBezTo>
                  <a:lnTo>
                    <a:pt x="60024" y="435967"/>
                  </a:lnTo>
                  <a:cubicBezTo>
                    <a:pt x="44105" y="435967"/>
                    <a:pt x="28837" y="429643"/>
                    <a:pt x="17581" y="418386"/>
                  </a:cubicBezTo>
                  <a:cubicBezTo>
                    <a:pt x="6324" y="407130"/>
                    <a:pt x="0" y="391862"/>
                    <a:pt x="0" y="375943"/>
                  </a:cubicBezTo>
                  <a:lnTo>
                    <a:pt x="0" y="60024"/>
                  </a:lnTo>
                  <a:cubicBezTo>
                    <a:pt x="0" y="44105"/>
                    <a:pt x="6324" y="28837"/>
                    <a:pt x="17581" y="17581"/>
                  </a:cubicBezTo>
                  <a:cubicBezTo>
                    <a:pt x="28837" y="6324"/>
                    <a:pt x="44105" y="0"/>
                    <a:pt x="6002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4301" r="0" b="-4301"/>
              </a:stretch>
            </a:blipFill>
            <a:ln w="19050" cap="sq">
              <a:solidFill>
                <a:srgbClr val="163B4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779437" y="4145981"/>
            <a:ext cx="2515100" cy="3091956"/>
            <a:chOff x="0" y="0"/>
            <a:chExt cx="354630" cy="4359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4630" cy="435967"/>
            </a:xfrm>
            <a:custGeom>
              <a:avLst/>
              <a:gdLst/>
              <a:ahLst/>
              <a:cxnLst/>
              <a:rect r="r" b="b" t="t" l="l"/>
              <a:pathLst>
                <a:path h="435967" w="354630">
                  <a:moveTo>
                    <a:pt x="58485" y="0"/>
                  </a:moveTo>
                  <a:lnTo>
                    <a:pt x="296145" y="0"/>
                  </a:lnTo>
                  <a:cubicBezTo>
                    <a:pt x="328445" y="0"/>
                    <a:pt x="354630" y="26185"/>
                    <a:pt x="354630" y="58485"/>
                  </a:cubicBezTo>
                  <a:lnTo>
                    <a:pt x="354630" y="377482"/>
                  </a:lnTo>
                  <a:cubicBezTo>
                    <a:pt x="354630" y="392993"/>
                    <a:pt x="348468" y="407869"/>
                    <a:pt x="337500" y="418837"/>
                  </a:cubicBezTo>
                  <a:cubicBezTo>
                    <a:pt x="326532" y="429805"/>
                    <a:pt x="311656" y="435967"/>
                    <a:pt x="296145" y="435967"/>
                  </a:cubicBezTo>
                  <a:lnTo>
                    <a:pt x="58485" y="435967"/>
                  </a:lnTo>
                  <a:cubicBezTo>
                    <a:pt x="42974" y="435967"/>
                    <a:pt x="28098" y="429805"/>
                    <a:pt x="17130" y="418837"/>
                  </a:cubicBezTo>
                  <a:cubicBezTo>
                    <a:pt x="6162" y="407869"/>
                    <a:pt x="0" y="392993"/>
                    <a:pt x="0" y="377482"/>
                  </a:cubicBezTo>
                  <a:lnTo>
                    <a:pt x="0" y="58485"/>
                  </a:lnTo>
                  <a:cubicBezTo>
                    <a:pt x="0" y="42974"/>
                    <a:pt x="6162" y="28098"/>
                    <a:pt x="17130" y="17130"/>
                  </a:cubicBezTo>
                  <a:cubicBezTo>
                    <a:pt x="28098" y="6162"/>
                    <a:pt x="42974" y="0"/>
                    <a:pt x="58485" y="0"/>
                  </a:cubicBezTo>
                  <a:close/>
                </a:path>
              </a:pathLst>
            </a:custGeom>
            <a:blipFill>
              <a:blip r:embed="rId7"/>
              <a:stretch>
                <a:fillRect l="-11467" t="0" r="-11467" b="0"/>
              </a:stretch>
            </a:blipFill>
            <a:ln w="19050" cap="sq">
              <a:solidFill>
                <a:srgbClr val="163B42"/>
              </a:solidFill>
              <a:prstDash val="solid"/>
              <a:miter/>
            </a:ln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2560068" y="301442"/>
            <a:ext cx="966174" cy="967801"/>
          </a:xfrm>
          <a:custGeom>
            <a:avLst/>
            <a:gdLst/>
            <a:ahLst/>
            <a:cxnLst/>
            <a:rect r="r" b="b" t="t" l="l"/>
            <a:pathLst>
              <a:path h="967801" w="966174">
                <a:moveTo>
                  <a:pt x="0" y="0"/>
                </a:moveTo>
                <a:lnTo>
                  <a:pt x="966175" y="0"/>
                </a:lnTo>
                <a:lnTo>
                  <a:pt x="966175" y="967801"/>
                </a:lnTo>
                <a:lnTo>
                  <a:pt x="0" y="9678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339124" y="394415"/>
            <a:ext cx="2440313" cy="755932"/>
          </a:xfrm>
          <a:custGeom>
            <a:avLst/>
            <a:gdLst/>
            <a:ahLst/>
            <a:cxnLst/>
            <a:rect r="r" b="b" t="t" l="l"/>
            <a:pathLst>
              <a:path h="755932" w="2440313">
                <a:moveTo>
                  <a:pt x="0" y="0"/>
                </a:moveTo>
                <a:lnTo>
                  <a:pt x="2440313" y="0"/>
                </a:lnTo>
                <a:lnTo>
                  <a:pt x="2440313" y="755932"/>
                </a:lnTo>
                <a:lnTo>
                  <a:pt x="0" y="7559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979462" y="479643"/>
            <a:ext cx="2971522" cy="598019"/>
          </a:xfrm>
          <a:custGeom>
            <a:avLst/>
            <a:gdLst/>
            <a:ahLst/>
            <a:cxnLst/>
            <a:rect r="r" b="b" t="t" l="l"/>
            <a:pathLst>
              <a:path h="598019" w="2971522">
                <a:moveTo>
                  <a:pt x="0" y="0"/>
                </a:moveTo>
                <a:lnTo>
                  <a:pt x="2971522" y="0"/>
                </a:lnTo>
                <a:lnTo>
                  <a:pt x="2971522" y="598019"/>
                </a:lnTo>
                <a:lnTo>
                  <a:pt x="0" y="5980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67471" y="728462"/>
            <a:ext cx="3351370" cy="26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b="true" sz="2167" spc="-16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ASTRO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8836" y="2240793"/>
            <a:ext cx="7621016" cy="157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68"/>
              </a:lnSpc>
            </a:pPr>
            <a:r>
              <a:rPr lang="en-US" b="true" sz="11988" spc="-112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Astro Team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1348" y="8031835"/>
            <a:ext cx="3293366" cy="29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b="true" sz="2227" spc="-209">
                <a:solidFill>
                  <a:srgbClr val="FCFA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TOHIROV FATXIDDIN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038410" y="8049280"/>
            <a:ext cx="3279012" cy="28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b="true" sz="2217" spc="-208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SADILLOYEV AKOBIR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1348" y="8436854"/>
            <a:ext cx="3293366" cy="25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2004" spc="-188">
                <a:solidFill>
                  <a:srgbClr val="FCFAFF"/>
                </a:solidFill>
                <a:latin typeface="Canva Sans"/>
                <a:ea typeface="Canva Sans"/>
                <a:cs typeface="Canva Sans"/>
                <a:sym typeface="Canva Sans"/>
              </a:rPr>
              <a:t>Team leader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38410" y="8443009"/>
            <a:ext cx="3279012" cy="25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5"/>
              </a:lnSpc>
            </a:pPr>
            <a:r>
              <a:rPr lang="en-US" b="true" sz="1995" spc="-187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Developer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39246" y="8090846"/>
            <a:ext cx="3249239" cy="28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</a:pPr>
            <a:r>
              <a:rPr lang="en-US" b="true" sz="2197" spc="-206">
                <a:solidFill>
                  <a:srgbClr val="FCFA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ORTIQOV XURSHID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359206" y="8468587"/>
            <a:ext cx="3249239" cy="255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977" spc="-185">
                <a:solidFill>
                  <a:srgbClr val="FCFAFF"/>
                </a:solidFill>
                <a:latin typeface="Canva Sans"/>
                <a:ea typeface="Canva Sans"/>
                <a:cs typeface="Canva Sans"/>
                <a:sym typeface="Canva Sans"/>
              </a:rPr>
              <a:t>Backend Developer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697569" y="8091232"/>
            <a:ext cx="3221845" cy="28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b="true" sz="2179" spc="-204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ISKANDAROVA ZIYODA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97569" y="8468406"/>
            <a:ext cx="3221845" cy="26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1"/>
              </a:lnSpc>
            </a:pPr>
            <a:r>
              <a:rPr lang="en-US" sz="1961" spc="-184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UI/UX Designer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925787" y="7969574"/>
            <a:ext cx="3165940" cy="54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9"/>
              </a:lnSpc>
            </a:pPr>
            <a:r>
              <a:rPr lang="en-US" b="true" sz="2141" spc="-201">
                <a:solidFill>
                  <a:srgbClr val="FE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TO’YMURODOVA DILSHODA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979060" y="8662156"/>
            <a:ext cx="3165940" cy="25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7"/>
              </a:lnSpc>
            </a:pPr>
            <a:r>
              <a:rPr lang="en-US" sz="1927" spc="-18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Business Analyst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23814" y="9084866"/>
            <a:ext cx="3293366" cy="5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2004" spc="-188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6 yillik tajriba</a:t>
            </a:r>
          </a:p>
          <a:p>
            <a:pPr algn="ctr">
              <a:lnSpc>
                <a:spcPts val="1984"/>
              </a:lnSpc>
            </a:pPr>
            <a:r>
              <a:rPr lang="en-US" sz="2004" spc="-188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100 dan ortiq loyiha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144771" y="9088196"/>
            <a:ext cx="3279012" cy="50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5"/>
              </a:lnSpc>
            </a:pPr>
            <a:r>
              <a:rPr lang="en-US" sz="1995" spc="-187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3 yillik tajriba</a:t>
            </a:r>
          </a:p>
          <a:p>
            <a:pPr algn="ctr">
              <a:lnSpc>
                <a:spcPts val="1975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7384724" y="9084866"/>
            <a:ext cx="3249239" cy="73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977" spc="-185">
                <a:solidFill>
                  <a:srgbClr val="FCFAFF"/>
                </a:solidFill>
                <a:latin typeface="Canva Sans"/>
                <a:ea typeface="Canva Sans"/>
                <a:cs typeface="Canva Sans"/>
                <a:sym typeface="Canva Sans"/>
              </a:rPr>
              <a:t>5 yillik tajriba</a:t>
            </a:r>
          </a:p>
          <a:p>
            <a:pPr algn="ctr">
              <a:lnSpc>
                <a:spcPts val="1957"/>
              </a:lnSpc>
            </a:pPr>
            <a:r>
              <a:rPr lang="en-US" sz="1977" spc="-185">
                <a:solidFill>
                  <a:srgbClr val="FCFAFF"/>
                </a:solidFill>
                <a:latin typeface="Canva Sans"/>
                <a:ea typeface="Canva Sans"/>
                <a:cs typeface="Canva Sans"/>
                <a:sym typeface="Canva Sans"/>
              </a:rPr>
              <a:t>50 ga yaqin loyiha</a:t>
            </a:r>
          </a:p>
          <a:p>
            <a:pPr algn="ctr">
              <a:lnSpc>
                <a:spcPts val="1957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0703941" y="9102345"/>
            <a:ext cx="3221845" cy="50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1"/>
              </a:lnSpc>
            </a:pPr>
            <a:r>
              <a:rPr lang="en-US" sz="1961" spc="-184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2 </a:t>
            </a:r>
            <a:r>
              <a:rPr lang="en-US" sz="1961" spc="-184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yillik tajriba</a:t>
            </a:r>
          </a:p>
          <a:p>
            <a:pPr algn="ctr">
              <a:lnSpc>
                <a:spcPts val="1941"/>
              </a:lnSpc>
            </a:pPr>
            <a:r>
              <a:rPr lang="en-US" sz="1961" spc="-184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20 ga yaqin loyiha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979060" y="9104903"/>
            <a:ext cx="3165940" cy="49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7"/>
              </a:lnSpc>
            </a:pPr>
            <a:r>
              <a:rPr lang="en-US" sz="1927" spc="-18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2  </a:t>
            </a:r>
            <a:r>
              <a:rPr lang="en-US" sz="1927" spc="-18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yillik tajriba</a:t>
            </a:r>
          </a:p>
          <a:p>
            <a:pPr algn="ctr">
              <a:lnSpc>
                <a:spcPts val="1907"/>
              </a:lnSpc>
            </a:pPr>
            <a:r>
              <a:rPr lang="en-US" sz="1927" spc="-18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20 ga yaqin loyiha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663439" y="677715"/>
            <a:ext cx="3351370" cy="26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b="true" sz="2167" spc="-16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DIGITAL.UZ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146271">
            <a:off x="-12862" y="509982"/>
            <a:ext cx="10632065" cy="106320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22000"/>
                  </a:srgbClr>
                </a:gs>
                <a:gs pos="100000">
                  <a:srgbClr val="FFFFFF">
                    <a:alpha val="22000"/>
                  </a:srgbClr>
                </a:gs>
              </a:gsLst>
              <a:lin ang="0"/>
            </a:gradFill>
            <a:ln w="19050" cap="sq">
              <a:solidFill>
                <a:srgbClr val="163B42">
                  <a:alpha val="21961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877344" y="-5131218"/>
            <a:ext cx="23078275" cy="23078275"/>
            <a:chOff x="0" y="0"/>
            <a:chExt cx="30771033" cy="30771033"/>
          </a:xfrm>
        </p:grpSpPr>
        <p:sp>
          <p:nvSpPr>
            <p:cNvPr name="Freeform 6" id="6"/>
            <p:cNvSpPr/>
            <p:nvPr/>
          </p:nvSpPr>
          <p:spPr>
            <a:xfrm flipH="false" flipV="false" rot="7999235">
              <a:off x="4501638" y="4501638"/>
              <a:ext cx="21767756" cy="21767756"/>
            </a:xfrm>
            <a:custGeom>
              <a:avLst/>
              <a:gdLst/>
              <a:ahLst/>
              <a:cxnLst/>
              <a:rect r="r" b="b" t="t" l="l"/>
              <a:pathLst>
                <a:path h="21767756" w="21767756">
                  <a:moveTo>
                    <a:pt x="0" y="0"/>
                  </a:moveTo>
                  <a:lnTo>
                    <a:pt x="21767757" y="0"/>
                  </a:lnTo>
                  <a:lnTo>
                    <a:pt x="21767757" y="21767757"/>
                  </a:lnTo>
                  <a:lnTo>
                    <a:pt x="0" y="21767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120089">
              <a:off x="7995415" y="7714777"/>
              <a:ext cx="15341479" cy="15341479"/>
            </a:xfrm>
            <a:custGeom>
              <a:avLst/>
              <a:gdLst/>
              <a:ahLst/>
              <a:cxnLst/>
              <a:rect r="r" b="b" t="t" l="l"/>
              <a:pathLst>
                <a:path h="15341479" w="15341479">
                  <a:moveTo>
                    <a:pt x="0" y="0"/>
                  </a:moveTo>
                  <a:lnTo>
                    <a:pt x="15341479" y="0"/>
                  </a:lnTo>
                  <a:lnTo>
                    <a:pt x="15341479" y="15341479"/>
                  </a:lnTo>
                  <a:lnTo>
                    <a:pt x="0" y="15341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true" rot="6480827">
            <a:off x="12489001" y="-3080284"/>
            <a:ext cx="5423860" cy="8217969"/>
          </a:xfrm>
          <a:custGeom>
            <a:avLst/>
            <a:gdLst/>
            <a:ahLst/>
            <a:cxnLst/>
            <a:rect r="r" b="b" t="t" l="l"/>
            <a:pathLst>
              <a:path h="8217969" w="5423860">
                <a:moveTo>
                  <a:pt x="0" y="8217968"/>
                </a:moveTo>
                <a:lnTo>
                  <a:pt x="5423860" y="8217968"/>
                </a:lnTo>
                <a:lnTo>
                  <a:pt x="5423860" y="0"/>
                </a:lnTo>
                <a:lnTo>
                  <a:pt x="0" y="0"/>
                </a:lnTo>
                <a:lnTo>
                  <a:pt x="0" y="8217968"/>
                </a:lnTo>
                <a:close/>
              </a:path>
            </a:pathLst>
          </a:custGeom>
          <a:blipFill>
            <a:blip r:embed="rId3">
              <a:alphaModFix amt="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7090" y="788397"/>
            <a:ext cx="4637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b="true" sz="3000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 Ultra-Bold"/>
                <a:ea typeface="Aileron Ultra-Bold"/>
                <a:cs typeface="Aileron Ultra-Bold"/>
                <a:sym typeface="Aileron Ultra-Bold"/>
              </a:rPr>
              <a:t>ASTRO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5828" y="2910435"/>
            <a:ext cx="10049226" cy="565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2"/>
              </a:lnSpc>
            </a:pPr>
            <a:r>
              <a:rPr lang="en-US" b="true" sz="21982" spc="-20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71115" y="706101"/>
            <a:ext cx="2688185" cy="504746"/>
            <a:chOff x="0" y="0"/>
            <a:chExt cx="707999" cy="1329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7999" cy="132937"/>
            </a:xfrm>
            <a:custGeom>
              <a:avLst/>
              <a:gdLst/>
              <a:ahLst/>
              <a:cxnLst/>
              <a:rect r="r" b="b" t="t" l="l"/>
              <a:pathLst>
                <a:path h="132937" w="707999">
                  <a:moveTo>
                    <a:pt x="66469" y="0"/>
                  </a:moveTo>
                  <a:lnTo>
                    <a:pt x="641531" y="0"/>
                  </a:lnTo>
                  <a:cubicBezTo>
                    <a:pt x="678240" y="0"/>
                    <a:pt x="707999" y="29759"/>
                    <a:pt x="707999" y="66469"/>
                  </a:cubicBezTo>
                  <a:lnTo>
                    <a:pt x="707999" y="66469"/>
                  </a:lnTo>
                  <a:cubicBezTo>
                    <a:pt x="707999" y="84097"/>
                    <a:pt x="700996" y="101004"/>
                    <a:pt x="688531" y="113469"/>
                  </a:cubicBezTo>
                  <a:cubicBezTo>
                    <a:pt x="676066" y="125934"/>
                    <a:pt x="659159" y="132937"/>
                    <a:pt x="641531" y="132937"/>
                  </a:cubicBezTo>
                  <a:lnTo>
                    <a:pt x="66469" y="132937"/>
                  </a:lnTo>
                  <a:cubicBezTo>
                    <a:pt x="29759" y="132937"/>
                    <a:pt x="0" y="103178"/>
                    <a:pt x="0" y="66469"/>
                  </a:cubicBezTo>
                  <a:lnTo>
                    <a:pt x="0" y="66469"/>
                  </a:lnTo>
                  <a:cubicBezTo>
                    <a:pt x="0" y="29759"/>
                    <a:pt x="29759" y="0"/>
                    <a:pt x="664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707999" cy="47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495054" y="7296372"/>
            <a:ext cx="410922" cy="410922"/>
          </a:xfrm>
          <a:custGeom>
            <a:avLst/>
            <a:gdLst/>
            <a:ahLst/>
            <a:cxnLst/>
            <a:rect r="r" b="b" t="t" l="l"/>
            <a:pathLst>
              <a:path h="410922" w="410922">
                <a:moveTo>
                  <a:pt x="0" y="0"/>
                </a:moveTo>
                <a:lnTo>
                  <a:pt x="410922" y="0"/>
                </a:lnTo>
                <a:lnTo>
                  <a:pt x="410922" y="410922"/>
                </a:lnTo>
                <a:lnTo>
                  <a:pt x="0" y="4109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495054" y="7840238"/>
            <a:ext cx="428153" cy="428153"/>
          </a:xfrm>
          <a:custGeom>
            <a:avLst/>
            <a:gdLst/>
            <a:ahLst/>
            <a:cxnLst/>
            <a:rect r="r" b="b" t="t" l="l"/>
            <a:pathLst>
              <a:path h="428153" w="428153">
                <a:moveTo>
                  <a:pt x="0" y="0"/>
                </a:moveTo>
                <a:lnTo>
                  <a:pt x="428153" y="0"/>
                </a:lnTo>
                <a:lnTo>
                  <a:pt x="428153" y="428153"/>
                </a:lnTo>
                <a:lnTo>
                  <a:pt x="0" y="4281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495054" y="8400263"/>
            <a:ext cx="422224" cy="492629"/>
          </a:xfrm>
          <a:custGeom>
            <a:avLst/>
            <a:gdLst/>
            <a:ahLst/>
            <a:cxnLst/>
            <a:rect r="r" b="b" t="t" l="l"/>
            <a:pathLst>
              <a:path h="492629" w="422224">
                <a:moveTo>
                  <a:pt x="0" y="0"/>
                </a:moveTo>
                <a:lnTo>
                  <a:pt x="422224" y="0"/>
                </a:lnTo>
                <a:lnTo>
                  <a:pt x="422224" y="492629"/>
                </a:lnTo>
                <a:lnTo>
                  <a:pt x="0" y="4926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12152035" y="7237187"/>
            <a:ext cx="5416493" cy="43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1"/>
              </a:lnSpc>
              <a:spcBef>
                <a:spcPct val="0"/>
              </a:spcBef>
            </a:pPr>
            <a:r>
              <a:rPr lang="en-US" sz="25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"/>
                <a:ea typeface="Aileron"/>
                <a:cs typeface="Aileron"/>
                <a:sym typeface="Aileron"/>
              </a:rPr>
              <a:t>+998 99 456 07 70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1572" y="517573"/>
            <a:ext cx="834256" cy="83425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152035" y="7800210"/>
            <a:ext cx="7496967" cy="4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"/>
                <a:ea typeface="Aileron"/>
                <a:cs typeface="Aileron"/>
                <a:sym typeface="Aileron"/>
              </a:rPr>
              <a:t>tohi</a:t>
            </a:r>
            <a:r>
              <a:rPr lang="en-US" sz="2642" strike="noStrike" u="non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"/>
                <a:ea typeface="Aileron"/>
                <a:cs typeface="Aileron"/>
                <a:sym typeface="Aileron"/>
              </a:rPr>
              <a:t>rov.fatkhiddin</a:t>
            </a:r>
            <a:r>
              <a:rPr lang="en-US" sz="2642" strike="noStrike" u="non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"/>
                <a:ea typeface="Aileron"/>
                <a:cs typeface="Aileron"/>
                <a:sym typeface="Aileron"/>
              </a:rPr>
              <a:t>@gma</a:t>
            </a:r>
            <a:r>
              <a:rPr lang="en-US" sz="2642" strike="noStrike" u="non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"/>
                <a:ea typeface="Aileron"/>
                <a:cs typeface="Aileron"/>
                <a:sym typeface="Aileron"/>
              </a:rPr>
              <a:t>il.com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52035" y="8408239"/>
            <a:ext cx="6321212" cy="76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22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ileron"/>
                <a:ea typeface="Aileron"/>
                <a:cs typeface="Aileron"/>
                <a:sym typeface="Aileron"/>
              </a:rPr>
              <a:t>Muhammad Iqbol ko’chasi, 11, Buxoro , Buxoro viloyati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DAHGr7IRMaA</dc:identifier>
  <dcterms:modified xsi:type="dcterms:W3CDTF">2011-08-01T06:04:30Z</dcterms:modified>
  <cp:revision>1</cp:revision>
  <dc:title>Green and White Modern Gradient Business Pitch Deck Presentation</dc:title>
</cp:coreProperties>
</file>